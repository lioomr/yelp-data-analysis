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Semi-Bold" charset="1" panose="00000700000000000000"/>
      <p:regular r:id="rId25"/>
    </p:embeddedFont>
    <p:embeddedFont>
      <p:font typeface="Poppins" charset="1" panose="00000500000000000000"/>
      <p:regular r:id="rId26"/>
    </p:embeddedFont>
    <p:embeddedFont>
      <p:font typeface="Poppins Bold"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941001" y="7989356"/>
            <a:ext cx="22170002" cy="3086100"/>
            <a:chOff x="0" y="0"/>
            <a:chExt cx="5839013" cy="812800"/>
          </a:xfrm>
        </p:grpSpPr>
        <p:sp>
          <p:nvSpPr>
            <p:cNvPr name="Freeform 3" id="3"/>
            <p:cNvSpPr/>
            <p:nvPr/>
          </p:nvSpPr>
          <p:spPr>
            <a:xfrm flipH="false" flipV="false" rot="0">
              <a:off x="0" y="0"/>
              <a:ext cx="5839013" cy="812800"/>
            </a:xfrm>
            <a:custGeom>
              <a:avLst/>
              <a:gdLst/>
              <a:ahLst/>
              <a:cxnLst/>
              <a:rect r="r" b="b" t="t" l="l"/>
              <a:pathLst>
                <a:path h="812800" w="5839013">
                  <a:moveTo>
                    <a:pt x="0" y="0"/>
                  </a:moveTo>
                  <a:lnTo>
                    <a:pt x="5839013" y="0"/>
                  </a:lnTo>
                  <a:lnTo>
                    <a:pt x="5839013" y="812800"/>
                  </a:lnTo>
                  <a:lnTo>
                    <a:pt x="0" y="812800"/>
                  </a:lnTo>
                  <a:close/>
                </a:path>
              </a:pathLst>
            </a:custGeom>
            <a:solidFill>
              <a:srgbClr val="FFFFFF"/>
            </a:solidFill>
          </p:spPr>
        </p:sp>
        <p:sp>
          <p:nvSpPr>
            <p:cNvPr name="TextBox 4" id="4"/>
            <p:cNvSpPr txBox="true"/>
            <p:nvPr/>
          </p:nvSpPr>
          <p:spPr>
            <a:xfrm>
              <a:off x="0" y="-57150"/>
              <a:ext cx="5839013" cy="869950"/>
            </a:xfrm>
            <a:prstGeom prst="rect">
              <a:avLst/>
            </a:prstGeom>
          </p:spPr>
          <p:txBody>
            <a:bodyPr anchor="ctr" rtlCol="false" tIns="50800" lIns="50800" bIns="50800" rIns="50800"/>
            <a:lstStyle/>
            <a:p>
              <a:pPr algn="ctr" marL="0" indent="0" lvl="0">
                <a:lnSpc>
                  <a:spcPts val="2867"/>
                </a:lnSpc>
              </a:pPr>
            </a:p>
          </p:txBody>
        </p:sp>
      </p:grpSp>
      <p:grpSp>
        <p:nvGrpSpPr>
          <p:cNvPr name="Group 5" id="5"/>
          <p:cNvGrpSpPr/>
          <p:nvPr/>
        </p:nvGrpSpPr>
        <p:grpSpPr>
          <a:xfrm rot="0">
            <a:off x="8294758" y="4675581"/>
            <a:ext cx="5052959" cy="4582719"/>
            <a:chOff x="0" y="0"/>
            <a:chExt cx="812800" cy="737159"/>
          </a:xfrm>
        </p:grpSpPr>
        <p:sp>
          <p:nvSpPr>
            <p:cNvPr name="Freeform 6" id="6"/>
            <p:cNvSpPr/>
            <p:nvPr/>
          </p:nvSpPr>
          <p:spPr>
            <a:xfrm flipH="false" flipV="false" rot="0">
              <a:off x="0" y="0"/>
              <a:ext cx="812800" cy="737159"/>
            </a:xfrm>
            <a:custGeom>
              <a:avLst/>
              <a:gdLst/>
              <a:ahLst/>
              <a:cxnLst/>
              <a:rect r="r" b="b" t="t" l="l"/>
              <a:pathLst>
                <a:path h="737159" w="812800">
                  <a:moveTo>
                    <a:pt x="35240" y="0"/>
                  </a:moveTo>
                  <a:lnTo>
                    <a:pt x="777560" y="0"/>
                  </a:lnTo>
                  <a:cubicBezTo>
                    <a:pt x="786907" y="0"/>
                    <a:pt x="795870" y="3713"/>
                    <a:pt x="802479" y="10321"/>
                  </a:cubicBezTo>
                  <a:cubicBezTo>
                    <a:pt x="809087" y="16930"/>
                    <a:pt x="812800" y="25893"/>
                    <a:pt x="812800" y="35240"/>
                  </a:cubicBezTo>
                  <a:lnTo>
                    <a:pt x="812800" y="701919"/>
                  </a:lnTo>
                  <a:cubicBezTo>
                    <a:pt x="812800" y="711265"/>
                    <a:pt x="809087" y="720229"/>
                    <a:pt x="802479" y="726838"/>
                  </a:cubicBezTo>
                  <a:cubicBezTo>
                    <a:pt x="795870" y="733446"/>
                    <a:pt x="786907" y="737159"/>
                    <a:pt x="777560" y="737159"/>
                  </a:cubicBezTo>
                  <a:lnTo>
                    <a:pt x="35240" y="737159"/>
                  </a:lnTo>
                  <a:cubicBezTo>
                    <a:pt x="15777" y="737159"/>
                    <a:pt x="0" y="721382"/>
                    <a:pt x="0" y="701919"/>
                  </a:cubicBezTo>
                  <a:lnTo>
                    <a:pt x="0" y="35240"/>
                  </a:lnTo>
                  <a:cubicBezTo>
                    <a:pt x="0" y="25893"/>
                    <a:pt x="3713" y="16930"/>
                    <a:pt x="10321" y="10321"/>
                  </a:cubicBezTo>
                  <a:cubicBezTo>
                    <a:pt x="16930" y="3713"/>
                    <a:pt x="25893" y="0"/>
                    <a:pt x="35240" y="0"/>
                  </a:cubicBezTo>
                  <a:close/>
                </a:path>
              </a:pathLst>
            </a:custGeom>
            <a:blipFill>
              <a:blip r:embed="rId2"/>
              <a:stretch>
                <a:fillRect l="0" t="-5130" r="0" b="-5130"/>
              </a:stretch>
            </a:blipFill>
            <a:ln w="123825" cap="rnd">
              <a:solidFill>
                <a:srgbClr val="FF914D"/>
              </a:solidFill>
              <a:prstDash val="solid"/>
              <a:round/>
            </a:ln>
          </p:spPr>
        </p:sp>
      </p:grpSp>
      <p:grpSp>
        <p:nvGrpSpPr>
          <p:cNvPr name="Group 7" id="7"/>
          <p:cNvGrpSpPr/>
          <p:nvPr/>
        </p:nvGrpSpPr>
        <p:grpSpPr>
          <a:xfrm rot="0">
            <a:off x="13913697" y="4675581"/>
            <a:ext cx="5052959" cy="4582719"/>
            <a:chOff x="0" y="0"/>
            <a:chExt cx="812800" cy="737159"/>
          </a:xfrm>
        </p:grpSpPr>
        <p:sp>
          <p:nvSpPr>
            <p:cNvPr name="Freeform 8" id="8"/>
            <p:cNvSpPr/>
            <p:nvPr/>
          </p:nvSpPr>
          <p:spPr>
            <a:xfrm flipH="false" flipV="false" rot="0">
              <a:off x="0" y="0"/>
              <a:ext cx="812800" cy="737159"/>
            </a:xfrm>
            <a:custGeom>
              <a:avLst/>
              <a:gdLst/>
              <a:ahLst/>
              <a:cxnLst/>
              <a:rect r="r" b="b" t="t" l="l"/>
              <a:pathLst>
                <a:path h="737159" w="812800">
                  <a:moveTo>
                    <a:pt x="35240" y="0"/>
                  </a:moveTo>
                  <a:lnTo>
                    <a:pt x="777560" y="0"/>
                  </a:lnTo>
                  <a:cubicBezTo>
                    <a:pt x="786907" y="0"/>
                    <a:pt x="795870" y="3713"/>
                    <a:pt x="802479" y="10321"/>
                  </a:cubicBezTo>
                  <a:cubicBezTo>
                    <a:pt x="809087" y="16930"/>
                    <a:pt x="812800" y="25893"/>
                    <a:pt x="812800" y="35240"/>
                  </a:cubicBezTo>
                  <a:lnTo>
                    <a:pt x="812800" y="701919"/>
                  </a:lnTo>
                  <a:cubicBezTo>
                    <a:pt x="812800" y="711265"/>
                    <a:pt x="809087" y="720229"/>
                    <a:pt x="802479" y="726838"/>
                  </a:cubicBezTo>
                  <a:cubicBezTo>
                    <a:pt x="795870" y="733446"/>
                    <a:pt x="786907" y="737159"/>
                    <a:pt x="777560" y="737159"/>
                  </a:cubicBezTo>
                  <a:lnTo>
                    <a:pt x="35240" y="737159"/>
                  </a:lnTo>
                  <a:cubicBezTo>
                    <a:pt x="15777" y="737159"/>
                    <a:pt x="0" y="721382"/>
                    <a:pt x="0" y="701919"/>
                  </a:cubicBezTo>
                  <a:lnTo>
                    <a:pt x="0" y="35240"/>
                  </a:lnTo>
                  <a:cubicBezTo>
                    <a:pt x="0" y="25893"/>
                    <a:pt x="3713" y="16930"/>
                    <a:pt x="10321" y="10321"/>
                  </a:cubicBezTo>
                  <a:cubicBezTo>
                    <a:pt x="16930" y="3713"/>
                    <a:pt x="25893" y="0"/>
                    <a:pt x="35240" y="0"/>
                  </a:cubicBezTo>
                  <a:close/>
                </a:path>
              </a:pathLst>
            </a:custGeom>
            <a:blipFill>
              <a:blip r:embed="rId3"/>
              <a:stretch>
                <a:fillRect l="0" t="-5130" r="0" b="-5130"/>
              </a:stretch>
            </a:blipFill>
            <a:ln w="123825" cap="rnd">
              <a:solidFill>
                <a:srgbClr val="FF914D"/>
              </a:solidFill>
              <a:prstDash val="solid"/>
              <a:round/>
            </a:ln>
          </p:spPr>
        </p:sp>
      </p:grpSp>
      <p:grpSp>
        <p:nvGrpSpPr>
          <p:cNvPr name="Group 9" id="9"/>
          <p:cNvGrpSpPr/>
          <p:nvPr/>
        </p:nvGrpSpPr>
        <p:grpSpPr>
          <a:xfrm rot="0">
            <a:off x="11318529" y="1028700"/>
            <a:ext cx="5940771" cy="622518"/>
            <a:chOff x="0" y="0"/>
            <a:chExt cx="1564647" cy="163955"/>
          </a:xfrm>
        </p:grpSpPr>
        <p:sp>
          <p:nvSpPr>
            <p:cNvPr name="Freeform 10" id="10"/>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11" id="11"/>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grpSp>
        <p:nvGrpSpPr>
          <p:cNvPr name="Group 12" id="12"/>
          <p:cNvGrpSpPr/>
          <p:nvPr/>
        </p:nvGrpSpPr>
        <p:grpSpPr>
          <a:xfrm rot="0">
            <a:off x="1364103" y="5840658"/>
            <a:ext cx="6368680" cy="3417642"/>
            <a:chOff x="0" y="0"/>
            <a:chExt cx="1677348" cy="900120"/>
          </a:xfrm>
        </p:grpSpPr>
        <p:sp>
          <p:nvSpPr>
            <p:cNvPr name="Freeform 13" id="13"/>
            <p:cNvSpPr/>
            <p:nvPr/>
          </p:nvSpPr>
          <p:spPr>
            <a:xfrm flipH="false" flipV="false" rot="0">
              <a:off x="0" y="0"/>
              <a:ext cx="1677348" cy="900120"/>
            </a:xfrm>
            <a:custGeom>
              <a:avLst/>
              <a:gdLst/>
              <a:ahLst/>
              <a:cxnLst/>
              <a:rect r="r" b="b" t="t" l="l"/>
              <a:pathLst>
                <a:path h="900120" w="1677348">
                  <a:moveTo>
                    <a:pt x="40116" y="0"/>
                  </a:moveTo>
                  <a:lnTo>
                    <a:pt x="1637232" y="0"/>
                  </a:lnTo>
                  <a:cubicBezTo>
                    <a:pt x="1647872" y="0"/>
                    <a:pt x="1658075" y="4226"/>
                    <a:pt x="1665598" y="11750"/>
                  </a:cubicBezTo>
                  <a:cubicBezTo>
                    <a:pt x="1673121" y="19273"/>
                    <a:pt x="1677348" y="29476"/>
                    <a:pt x="1677348" y="40116"/>
                  </a:cubicBezTo>
                  <a:lnTo>
                    <a:pt x="1677348" y="860004"/>
                  </a:lnTo>
                  <a:cubicBezTo>
                    <a:pt x="1677348" y="870643"/>
                    <a:pt x="1673121" y="880847"/>
                    <a:pt x="1665598" y="888370"/>
                  </a:cubicBezTo>
                  <a:cubicBezTo>
                    <a:pt x="1658075" y="895893"/>
                    <a:pt x="1647872" y="900120"/>
                    <a:pt x="1637232" y="900120"/>
                  </a:cubicBezTo>
                  <a:lnTo>
                    <a:pt x="40116" y="900120"/>
                  </a:lnTo>
                  <a:cubicBezTo>
                    <a:pt x="29476" y="900120"/>
                    <a:pt x="19273" y="895893"/>
                    <a:pt x="11750" y="888370"/>
                  </a:cubicBezTo>
                  <a:cubicBezTo>
                    <a:pt x="4226" y="880847"/>
                    <a:pt x="0" y="870643"/>
                    <a:pt x="0" y="860004"/>
                  </a:cubicBezTo>
                  <a:lnTo>
                    <a:pt x="0" y="40116"/>
                  </a:lnTo>
                  <a:cubicBezTo>
                    <a:pt x="0" y="29476"/>
                    <a:pt x="4226" y="19273"/>
                    <a:pt x="11750" y="11750"/>
                  </a:cubicBezTo>
                  <a:cubicBezTo>
                    <a:pt x="19273" y="4226"/>
                    <a:pt x="29476" y="0"/>
                    <a:pt x="40116" y="0"/>
                  </a:cubicBezTo>
                  <a:close/>
                </a:path>
              </a:pathLst>
            </a:custGeom>
            <a:solidFill>
              <a:srgbClr val="035F76"/>
            </a:solidFill>
            <a:ln cap="rnd">
              <a:noFill/>
              <a:prstDash val="solid"/>
              <a:round/>
            </a:ln>
          </p:spPr>
        </p:sp>
        <p:sp>
          <p:nvSpPr>
            <p:cNvPr name="TextBox 14" id="14"/>
            <p:cNvSpPr txBox="true"/>
            <p:nvPr/>
          </p:nvSpPr>
          <p:spPr>
            <a:xfrm>
              <a:off x="0" y="-57150"/>
              <a:ext cx="1677348" cy="957270"/>
            </a:xfrm>
            <a:prstGeom prst="rect">
              <a:avLst/>
            </a:prstGeom>
          </p:spPr>
          <p:txBody>
            <a:bodyPr anchor="ctr" rtlCol="false" tIns="50800" lIns="50800" bIns="50800" rIns="50800"/>
            <a:lstStyle/>
            <a:p>
              <a:pPr algn="ctr" marL="0" indent="0" lvl="0">
                <a:lnSpc>
                  <a:spcPts val="2799"/>
                </a:lnSpc>
              </a:pPr>
            </a:p>
          </p:txBody>
        </p:sp>
      </p:grpSp>
      <p:sp>
        <p:nvSpPr>
          <p:cNvPr name="TextBox 15" id="15"/>
          <p:cNvSpPr txBox="true"/>
          <p:nvPr/>
        </p:nvSpPr>
        <p:spPr>
          <a:xfrm rot="0">
            <a:off x="1364103" y="1952134"/>
            <a:ext cx="15895197" cy="2381740"/>
          </a:xfrm>
          <a:prstGeom prst="rect">
            <a:avLst/>
          </a:prstGeom>
        </p:spPr>
        <p:txBody>
          <a:bodyPr anchor="t" rtlCol="false" tIns="0" lIns="0" bIns="0" rIns="0">
            <a:spAutoFit/>
          </a:bodyPr>
          <a:lstStyle/>
          <a:p>
            <a:pPr algn="l" marL="0" indent="0" lvl="0">
              <a:lnSpc>
                <a:spcPts val="8869"/>
              </a:lnSpc>
            </a:pPr>
            <a:r>
              <a:rPr lang="en-US" b="true" sz="9239" spc="-471">
                <a:solidFill>
                  <a:srgbClr val="FF914D"/>
                </a:solidFill>
                <a:latin typeface="Poppins Semi-Bold"/>
                <a:ea typeface="Poppins Semi-Bold"/>
                <a:cs typeface="Poppins Semi-Bold"/>
                <a:sym typeface="Poppins Semi-Bold"/>
              </a:rPr>
              <a:t>Big Data Machine Learning Pipeline</a:t>
            </a:r>
          </a:p>
        </p:txBody>
      </p:sp>
      <p:sp>
        <p:nvSpPr>
          <p:cNvPr name="TextBox 16" id="16"/>
          <p:cNvSpPr txBox="true"/>
          <p:nvPr/>
        </p:nvSpPr>
        <p:spPr>
          <a:xfrm rot="0">
            <a:off x="1364103" y="4900473"/>
            <a:ext cx="6368680" cy="568224"/>
          </a:xfrm>
          <a:prstGeom prst="rect">
            <a:avLst/>
          </a:prstGeom>
        </p:spPr>
        <p:txBody>
          <a:bodyPr anchor="t" rtlCol="false" tIns="0" lIns="0" bIns="0" rIns="0">
            <a:spAutoFit/>
          </a:bodyPr>
          <a:lstStyle/>
          <a:p>
            <a:pPr algn="l" marL="0" indent="0" lvl="0">
              <a:lnSpc>
                <a:spcPts val="2280"/>
              </a:lnSpc>
            </a:pPr>
            <a:r>
              <a:rPr lang="en-US" sz="1628" spc="203">
                <a:solidFill>
                  <a:srgbClr val="FFFFFF"/>
                </a:solidFill>
                <a:latin typeface="Poppins"/>
                <a:ea typeface="Poppins"/>
                <a:cs typeface="Poppins"/>
                <a:sym typeface="Poppins"/>
              </a:rPr>
              <a:t>YELP OPEN DATASET ANALYTICS &amp; SENTIMENT CLASSIFICATION REPORT</a:t>
            </a:r>
          </a:p>
        </p:txBody>
      </p:sp>
      <p:sp>
        <p:nvSpPr>
          <p:cNvPr name="TextBox 17" id="17"/>
          <p:cNvSpPr txBox="true"/>
          <p:nvPr/>
        </p:nvSpPr>
        <p:spPr>
          <a:xfrm rot="0">
            <a:off x="1028700" y="1076325"/>
            <a:ext cx="2219723" cy="473238"/>
          </a:xfrm>
          <a:prstGeom prst="rect">
            <a:avLst/>
          </a:prstGeom>
        </p:spPr>
        <p:txBody>
          <a:bodyPr anchor="t" rtlCol="false" tIns="0" lIns="0" bIns="0" rIns="0">
            <a:spAutoFit/>
          </a:bodyPr>
          <a:lstStyle/>
          <a:p>
            <a:pPr algn="l" marL="0" indent="0" lvl="0">
              <a:lnSpc>
                <a:spcPts val="3304"/>
              </a:lnSpc>
            </a:pPr>
            <a:r>
              <a:rPr lang="en-US" b="true" sz="3441" spc="-175">
                <a:solidFill>
                  <a:srgbClr val="FFFFFF"/>
                </a:solidFill>
                <a:latin typeface="Poppins Semi-Bold"/>
                <a:ea typeface="Poppins Semi-Bold"/>
                <a:cs typeface="Poppins Semi-Bold"/>
                <a:sym typeface="Poppins Semi-Bold"/>
              </a:rPr>
              <a:t>ML Pipeline</a:t>
            </a:r>
          </a:p>
        </p:txBody>
      </p:sp>
      <p:sp>
        <p:nvSpPr>
          <p:cNvPr name="TextBox 18" id="18"/>
          <p:cNvSpPr txBox="true"/>
          <p:nvPr/>
        </p:nvSpPr>
        <p:spPr>
          <a:xfrm rot="0">
            <a:off x="1800755" y="6191112"/>
            <a:ext cx="5533940" cy="1222376"/>
          </a:xfrm>
          <a:prstGeom prst="rect">
            <a:avLst/>
          </a:prstGeom>
        </p:spPr>
        <p:txBody>
          <a:bodyPr anchor="t" rtlCol="false" tIns="0" lIns="0" bIns="0" rIns="0">
            <a:spAutoFit/>
          </a:bodyPr>
          <a:lstStyle/>
          <a:p>
            <a:pPr algn="l" marL="0" indent="0" lvl="0">
              <a:lnSpc>
                <a:spcPts val="3229"/>
              </a:lnSpc>
              <a:spcBef>
                <a:spcPct val="0"/>
              </a:spcBef>
            </a:pPr>
            <a:r>
              <a:rPr lang="en-US" sz="1899" strike="noStrike" u="none">
                <a:solidFill>
                  <a:srgbClr val="FFFFFF">
                    <a:alpha val="71765"/>
                  </a:srgbClr>
                </a:solidFill>
                <a:latin typeface="Poppins"/>
                <a:ea typeface="Poppins"/>
                <a:cs typeface="Poppins"/>
                <a:sym typeface="Poppins"/>
              </a:rPr>
              <a:t>Data Engineering Team, Sentiment Analysis Division</a:t>
            </a:r>
          </a:p>
          <a:p>
            <a:pPr algn="l" marL="0" indent="0" lvl="0">
              <a:lnSpc>
                <a:spcPts val="3229"/>
              </a:lnSpc>
              <a:spcBef>
                <a:spcPct val="0"/>
              </a:spcBef>
            </a:pPr>
            <a:r>
              <a:rPr lang="en-US" sz="1899" strike="noStrike" u="none">
                <a:solidFill>
                  <a:srgbClr val="FFFFFF">
                    <a:alpha val="71765"/>
                  </a:srgbClr>
                </a:solidFill>
                <a:latin typeface="Poppins"/>
                <a:ea typeface="Poppins"/>
                <a:cs typeface="Poppins"/>
                <a:sym typeface="Poppins"/>
              </a:rPr>
              <a:t>May 10, 2026</a:t>
            </a:r>
          </a:p>
        </p:txBody>
      </p:sp>
      <p:grpSp>
        <p:nvGrpSpPr>
          <p:cNvPr name="Group 19" id="19"/>
          <p:cNvGrpSpPr/>
          <p:nvPr/>
        </p:nvGrpSpPr>
        <p:grpSpPr>
          <a:xfrm rot="0">
            <a:off x="1792012" y="8277595"/>
            <a:ext cx="3148900" cy="622518"/>
            <a:chOff x="0" y="0"/>
            <a:chExt cx="829340" cy="163955"/>
          </a:xfrm>
        </p:grpSpPr>
        <p:sp>
          <p:nvSpPr>
            <p:cNvPr name="Freeform 20" id="20"/>
            <p:cNvSpPr/>
            <p:nvPr/>
          </p:nvSpPr>
          <p:spPr>
            <a:xfrm flipH="false" flipV="false" rot="0">
              <a:off x="0" y="0"/>
              <a:ext cx="829340" cy="163955"/>
            </a:xfrm>
            <a:custGeom>
              <a:avLst/>
              <a:gdLst/>
              <a:ahLst/>
              <a:cxnLst/>
              <a:rect r="r" b="b" t="t" l="l"/>
              <a:pathLst>
                <a:path h="163955" w="829340">
                  <a:moveTo>
                    <a:pt x="81978" y="0"/>
                  </a:moveTo>
                  <a:lnTo>
                    <a:pt x="747362" y="0"/>
                  </a:lnTo>
                  <a:cubicBezTo>
                    <a:pt x="792637" y="0"/>
                    <a:pt x="829340" y="36703"/>
                    <a:pt x="829340" y="81978"/>
                  </a:cubicBezTo>
                  <a:lnTo>
                    <a:pt x="829340" y="81978"/>
                  </a:lnTo>
                  <a:cubicBezTo>
                    <a:pt x="829340" y="127253"/>
                    <a:pt x="792637" y="163955"/>
                    <a:pt x="747362" y="163955"/>
                  </a:cubicBezTo>
                  <a:lnTo>
                    <a:pt x="81978" y="163955"/>
                  </a:lnTo>
                  <a:cubicBezTo>
                    <a:pt x="36703" y="163955"/>
                    <a:pt x="0" y="127253"/>
                    <a:pt x="0" y="81978"/>
                  </a:cubicBezTo>
                  <a:lnTo>
                    <a:pt x="0" y="81978"/>
                  </a:lnTo>
                  <a:cubicBezTo>
                    <a:pt x="0" y="36703"/>
                    <a:pt x="36703" y="0"/>
                    <a:pt x="81978" y="0"/>
                  </a:cubicBezTo>
                  <a:close/>
                </a:path>
              </a:pathLst>
            </a:custGeom>
            <a:solidFill>
              <a:srgbClr val="FF914D"/>
            </a:solidFill>
            <a:ln cap="rnd">
              <a:noFill/>
              <a:prstDash val="solid"/>
              <a:round/>
            </a:ln>
          </p:spPr>
        </p:sp>
        <p:sp>
          <p:nvSpPr>
            <p:cNvPr name="TextBox 21" id="21"/>
            <p:cNvSpPr txBox="true"/>
            <p:nvPr/>
          </p:nvSpPr>
          <p:spPr>
            <a:xfrm>
              <a:off x="0" y="-57150"/>
              <a:ext cx="829340" cy="221105"/>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1938780" y="8405554"/>
            <a:ext cx="2828727" cy="225085"/>
          </a:xfrm>
          <a:prstGeom prst="rect">
            <a:avLst/>
          </a:prstGeom>
        </p:spPr>
        <p:txBody>
          <a:bodyPr anchor="t" rtlCol="false" tIns="0" lIns="0" bIns="0" rIns="0">
            <a:spAutoFit/>
          </a:bodyPr>
          <a:lstStyle/>
          <a:p>
            <a:pPr algn="ctr" marL="0" indent="0" lvl="0">
              <a:lnSpc>
                <a:spcPts val="1539"/>
              </a:lnSpc>
            </a:pPr>
            <a:r>
              <a:rPr lang="en-US" b="true" sz="1603" spc="-81">
                <a:solidFill>
                  <a:srgbClr val="FFFFFF"/>
                </a:solidFill>
                <a:latin typeface="Poppins Semi-Bold"/>
                <a:ea typeface="Poppins Semi-Bold"/>
                <a:cs typeface="Poppins Semi-Bold"/>
                <a:sym typeface="Poppins Semi-Bold"/>
              </a:rPr>
              <a:t>Begin Presentation</a:t>
            </a:r>
          </a:p>
        </p:txBody>
      </p:sp>
      <p:grpSp>
        <p:nvGrpSpPr>
          <p:cNvPr name="Group 23" id="23"/>
          <p:cNvGrpSpPr/>
          <p:nvPr/>
        </p:nvGrpSpPr>
        <p:grpSpPr>
          <a:xfrm rot="0">
            <a:off x="6806308" y="-1060364"/>
            <a:ext cx="2089064" cy="208906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5" id="25"/>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grpSp>
        <p:nvGrpSpPr>
          <p:cNvPr name="Group 5" id="5"/>
          <p:cNvGrpSpPr/>
          <p:nvPr/>
        </p:nvGrpSpPr>
        <p:grpSpPr>
          <a:xfrm rot="-2343210">
            <a:off x="-6513274" y="4115322"/>
            <a:ext cx="15481808" cy="7740904"/>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lnTo>
                    <a:pt x="609600" y="0"/>
                  </a:lnTo>
                  <a:close/>
                </a:path>
              </a:pathLst>
            </a:custGeom>
            <a:ln w="38100" cap="rnd">
              <a:solidFill>
                <a:srgbClr val="FF914D"/>
              </a:solidFill>
              <a:prstDash val="solid"/>
              <a:round/>
            </a:ln>
          </p:spPr>
        </p:sp>
        <p:sp>
          <p:nvSpPr>
            <p:cNvPr name="TextBox 7" id="7"/>
            <p:cNvSpPr txBox="true"/>
            <p:nvPr/>
          </p:nvSpPr>
          <p:spPr>
            <a:xfrm>
              <a:off x="0" y="-57150"/>
              <a:ext cx="812800" cy="463550"/>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8" id="8"/>
          <p:cNvGrpSpPr/>
          <p:nvPr/>
        </p:nvGrpSpPr>
        <p:grpSpPr>
          <a:xfrm rot="0">
            <a:off x="633020" y="2071990"/>
            <a:ext cx="7078346" cy="70783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w="161925" cap="sq">
              <a:solidFill>
                <a:srgbClr val="FF914D"/>
              </a:solidFill>
              <a:prstDash val="solid"/>
              <a:miter/>
            </a:ln>
          </p:spPr>
        </p:sp>
      </p:grpSp>
      <p:grpSp>
        <p:nvGrpSpPr>
          <p:cNvPr name="Group 10" id="10"/>
          <p:cNvGrpSpPr/>
          <p:nvPr/>
        </p:nvGrpSpPr>
        <p:grpSpPr>
          <a:xfrm rot="0">
            <a:off x="5826642" y="6865446"/>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8909842" y="2698917"/>
            <a:ext cx="8564984" cy="3093322"/>
          </a:xfrm>
          <a:prstGeom prst="rect">
            <a:avLst/>
          </a:prstGeom>
        </p:spPr>
        <p:txBody>
          <a:bodyPr anchor="t" rtlCol="false" tIns="0" lIns="0" bIns="0" rIns="0">
            <a:spAutoFit/>
          </a:bodyPr>
          <a:lstStyle/>
          <a:p>
            <a:pPr algn="l" marL="0" indent="0" lvl="0">
              <a:lnSpc>
                <a:spcPts val="11427"/>
              </a:lnSpc>
            </a:pPr>
            <a:r>
              <a:rPr lang="en-US" b="true" sz="11903" spc="-607">
                <a:solidFill>
                  <a:srgbClr val="FF914D"/>
                </a:solidFill>
                <a:latin typeface="Poppins Semi-Bold"/>
                <a:ea typeface="Poppins Semi-Bold"/>
                <a:cs typeface="Poppins Semi-Bold"/>
                <a:sym typeface="Poppins Semi-Bold"/>
              </a:rPr>
              <a:t>Project Overview</a:t>
            </a:r>
          </a:p>
        </p:txBody>
      </p:sp>
      <p:sp>
        <p:nvSpPr>
          <p:cNvPr name="TextBox 14" id="14"/>
          <p:cNvSpPr txBox="true"/>
          <p:nvPr/>
        </p:nvSpPr>
        <p:spPr>
          <a:xfrm rot="0">
            <a:off x="8909842" y="5998242"/>
            <a:ext cx="7720619" cy="368757"/>
          </a:xfrm>
          <a:prstGeom prst="rect">
            <a:avLst/>
          </a:prstGeom>
        </p:spPr>
        <p:txBody>
          <a:bodyPr anchor="t" rtlCol="false" tIns="0" lIns="0" bIns="0" rIns="0">
            <a:spAutoFit/>
          </a:bodyPr>
          <a:lstStyle/>
          <a:p>
            <a:pPr algn="l" marL="0" indent="0" lvl="0">
              <a:lnSpc>
                <a:spcPts val="2865"/>
              </a:lnSpc>
            </a:pPr>
            <a:r>
              <a:rPr lang="en-US" sz="2046" spc="255">
                <a:solidFill>
                  <a:srgbClr val="FFFFFF"/>
                </a:solidFill>
                <a:latin typeface="Poppins"/>
                <a:ea typeface="Poppins"/>
                <a:cs typeface="Poppins"/>
                <a:sym typeface="Poppins"/>
              </a:rPr>
              <a:t>SUMMARY OF PROJECT SCOPE AND SCALE</a:t>
            </a:r>
          </a:p>
        </p:txBody>
      </p:sp>
      <p:sp>
        <p:nvSpPr>
          <p:cNvPr name="TextBox 15" id="15"/>
          <p:cNvSpPr txBox="true"/>
          <p:nvPr/>
        </p:nvSpPr>
        <p:spPr>
          <a:xfrm rot="0">
            <a:off x="1179217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Home</a:t>
            </a:r>
          </a:p>
        </p:txBody>
      </p:sp>
      <p:sp>
        <p:nvSpPr>
          <p:cNvPr name="TextBox 16" id="16"/>
          <p:cNvSpPr txBox="true"/>
          <p:nvPr/>
        </p:nvSpPr>
        <p:spPr>
          <a:xfrm rot="0">
            <a:off x="1382496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About</a:t>
            </a:r>
          </a:p>
        </p:txBody>
      </p:sp>
      <p:sp>
        <p:nvSpPr>
          <p:cNvPr name="TextBox 17" id="17"/>
          <p:cNvSpPr txBox="true"/>
          <p:nvPr/>
        </p:nvSpPr>
        <p:spPr>
          <a:xfrm rot="0">
            <a:off x="15689514" y="1122903"/>
            <a:ext cx="1441239"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914D"/>
                </a:solidFill>
                <a:latin typeface="Poppins"/>
                <a:ea typeface="Poppins"/>
                <a:cs typeface="Poppins"/>
                <a:sym typeface="Poppins"/>
              </a:rPr>
              <a:t>Contact</a:t>
            </a:r>
          </a:p>
        </p:txBody>
      </p:sp>
      <p:sp>
        <p:nvSpPr>
          <p:cNvPr name="TextBox 18" id="18"/>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Rimberio</a:t>
            </a:r>
          </a:p>
        </p:txBody>
      </p:sp>
      <p:sp>
        <p:nvSpPr>
          <p:cNvPr name="TextBox 19" id="19"/>
          <p:cNvSpPr txBox="true"/>
          <p:nvPr/>
        </p:nvSpPr>
        <p:spPr>
          <a:xfrm rot="0">
            <a:off x="8909842" y="6751146"/>
            <a:ext cx="7720619" cy="2130514"/>
          </a:xfrm>
          <a:prstGeom prst="rect">
            <a:avLst/>
          </a:prstGeom>
        </p:spPr>
        <p:txBody>
          <a:bodyPr anchor="t" rtlCol="false" tIns="0" lIns="0" bIns="0" rIns="0">
            <a:spAutoFit/>
          </a:bodyPr>
          <a:lstStyle/>
          <a:p>
            <a:pPr algn="l"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Dataset: Yelp Open Dataset (2024 release) featuring 150,346+ businesses and 6,990,280+ reviews across 11 cities. Three ML classifiers trained for sentiment classification. Goal: production-grade pipeline for large-scale sentiment analysis.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653916" y="2504498"/>
            <a:ext cx="14980167" cy="1625370"/>
          </a:xfrm>
          <a:prstGeom prst="rect">
            <a:avLst/>
          </a:prstGeom>
        </p:spPr>
        <p:txBody>
          <a:bodyPr anchor="t" rtlCol="false" tIns="0" lIns="0" bIns="0" rIns="0">
            <a:spAutoFit/>
          </a:bodyPr>
          <a:lstStyle/>
          <a:p>
            <a:pPr algn="ctr" marL="0" indent="0" lvl="0">
              <a:lnSpc>
                <a:spcPts val="11292"/>
              </a:lnSpc>
            </a:pPr>
            <a:r>
              <a:rPr lang="en-US" b="true" sz="11763" spc="-599">
                <a:solidFill>
                  <a:srgbClr val="FF914D"/>
                </a:solidFill>
                <a:latin typeface="Poppins Semi-Bold"/>
                <a:ea typeface="Poppins Semi-Bold"/>
                <a:cs typeface="Poppins Semi-Bold"/>
                <a:sym typeface="Poppins Semi-Bold"/>
              </a:rPr>
              <a:t>Team Members</a:t>
            </a:r>
          </a:p>
        </p:txBody>
      </p:sp>
      <p:sp>
        <p:nvSpPr>
          <p:cNvPr name="TextBox 6" id="6"/>
          <p:cNvSpPr txBox="true"/>
          <p:nvPr/>
        </p:nvSpPr>
        <p:spPr>
          <a:xfrm rot="0">
            <a:off x="1179217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Home</a:t>
            </a:r>
          </a:p>
        </p:txBody>
      </p:sp>
      <p:sp>
        <p:nvSpPr>
          <p:cNvPr name="TextBox 7" id="7"/>
          <p:cNvSpPr txBox="true"/>
          <p:nvPr/>
        </p:nvSpPr>
        <p:spPr>
          <a:xfrm rot="0">
            <a:off x="1382496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About</a:t>
            </a:r>
          </a:p>
        </p:txBody>
      </p:sp>
      <p:sp>
        <p:nvSpPr>
          <p:cNvPr name="TextBox 8" id="8"/>
          <p:cNvSpPr txBox="true"/>
          <p:nvPr/>
        </p:nvSpPr>
        <p:spPr>
          <a:xfrm rot="0">
            <a:off x="15689514" y="1122903"/>
            <a:ext cx="1441239"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914D"/>
                </a:solidFill>
                <a:latin typeface="Poppins"/>
                <a:ea typeface="Poppins"/>
                <a:cs typeface="Poppins"/>
                <a:sym typeface="Poppins"/>
              </a:rPr>
              <a:t>Contact</a:t>
            </a:r>
          </a:p>
        </p:txBody>
      </p:sp>
      <p:sp>
        <p:nvSpPr>
          <p:cNvPr name="TextBox 9" id="9"/>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ML</a:t>
            </a:r>
          </a:p>
        </p:txBody>
      </p:sp>
      <p:grpSp>
        <p:nvGrpSpPr>
          <p:cNvPr name="Group 10" id="10"/>
          <p:cNvGrpSpPr/>
          <p:nvPr/>
        </p:nvGrpSpPr>
        <p:grpSpPr>
          <a:xfrm rot="0">
            <a:off x="-1044532" y="2342573"/>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1985212" y="5578789"/>
            <a:ext cx="5274088" cy="1273264"/>
          </a:xfrm>
          <a:prstGeom prst="rect">
            <a:avLst/>
          </a:prstGeom>
        </p:spPr>
        <p:txBody>
          <a:bodyPr anchor="t" rtlCol="false" tIns="0" lIns="0" bIns="0" rIns="0">
            <a:spAutoFit/>
          </a:bodyPr>
          <a:lstStyle/>
          <a:p>
            <a:pPr algn="l"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Omar Abdulaal (230103273)</a:t>
            </a:r>
          </a:p>
          <a:p>
            <a:pPr algn="l"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Abdullah Abdelsattar (230105204)</a:t>
            </a:r>
          </a:p>
          <a:p>
            <a:pPr algn="l"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Mariam Khalil (230101798)</a:t>
            </a:r>
          </a:p>
        </p:txBody>
      </p:sp>
      <p:sp>
        <p:nvSpPr>
          <p:cNvPr name="TextBox 14" id="14"/>
          <p:cNvSpPr txBox="true"/>
          <p:nvPr/>
        </p:nvSpPr>
        <p:spPr>
          <a:xfrm rot="0">
            <a:off x="11985212" y="4765181"/>
            <a:ext cx="4060154" cy="368757"/>
          </a:xfrm>
          <a:prstGeom prst="rect">
            <a:avLst/>
          </a:prstGeom>
        </p:spPr>
        <p:txBody>
          <a:bodyPr anchor="t" rtlCol="false" tIns="0" lIns="0" bIns="0" rIns="0">
            <a:spAutoFit/>
          </a:bodyPr>
          <a:lstStyle/>
          <a:p>
            <a:pPr algn="l" marL="0" indent="0" lvl="0">
              <a:lnSpc>
                <a:spcPts val="2865"/>
              </a:lnSpc>
            </a:pPr>
            <a:r>
              <a:rPr lang="en-US" sz="2046" spc="255">
                <a:solidFill>
                  <a:srgbClr val="FFFFFF"/>
                </a:solidFill>
                <a:latin typeface="Poppins"/>
                <a:ea typeface="Poppins"/>
                <a:cs typeface="Poppins"/>
                <a:sym typeface="Poppins"/>
              </a:rPr>
              <a:t>TEAM MEMBERS II</a:t>
            </a:r>
          </a:p>
        </p:txBody>
      </p:sp>
      <p:sp>
        <p:nvSpPr>
          <p:cNvPr name="TextBox 15" id="15"/>
          <p:cNvSpPr txBox="true"/>
          <p:nvPr/>
        </p:nvSpPr>
        <p:spPr>
          <a:xfrm rot="0">
            <a:off x="1028700" y="5578789"/>
            <a:ext cx="5420237" cy="1273264"/>
          </a:xfrm>
          <a:prstGeom prst="rect">
            <a:avLst/>
          </a:prstGeom>
        </p:spPr>
        <p:txBody>
          <a:bodyPr anchor="t" rtlCol="false" tIns="0" lIns="0" bIns="0" rIns="0">
            <a:spAutoFit/>
          </a:bodyPr>
          <a:lstStyle/>
          <a:p>
            <a:pPr algn="r"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Mahmoud Montaseb (230105746)</a:t>
            </a:r>
          </a:p>
          <a:p>
            <a:pPr algn="r"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Mohaned Ehab Rady (230100004)</a:t>
            </a:r>
          </a:p>
          <a:p>
            <a:pPr algn="r"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Mahmoud Usama (230103270)</a:t>
            </a:r>
          </a:p>
        </p:txBody>
      </p:sp>
      <p:sp>
        <p:nvSpPr>
          <p:cNvPr name="TextBox 16" id="16"/>
          <p:cNvSpPr txBox="true"/>
          <p:nvPr/>
        </p:nvSpPr>
        <p:spPr>
          <a:xfrm rot="0">
            <a:off x="2759269" y="4765181"/>
            <a:ext cx="3689669" cy="367110"/>
          </a:xfrm>
          <a:prstGeom prst="rect">
            <a:avLst/>
          </a:prstGeom>
        </p:spPr>
        <p:txBody>
          <a:bodyPr anchor="t" rtlCol="false" tIns="0" lIns="0" bIns="0" rIns="0">
            <a:spAutoFit/>
          </a:bodyPr>
          <a:lstStyle/>
          <a:p>
            <a:pPr algn="r" marL="0" indent="0" lvl="0">
              <a:lnSpc>
                <a:spcPts val="2865"/>
              </a:lnSpc>
            </a:pPr>
            <a:r>
              <a:rPr lang="en-US" sz="2046" spc="255">
                <a:solidFill>
                  <a:srgbClr val="FFFFFF"/>
                </a:solidFill>
                <a:latin typeface="Poppins"/>
                <a:ea typeface="Poppins"/>
                <a:cs typeface="Poppins"/>
                <a:sym typeface="Poppins"/>
              </a:rPr>
              <a:t>TEAM MEMBERS I</a:t>
            </a:r>
          </a:p>
        </p:txBody>
      </p:sp>
      <p:grpSp>
        <p:nvGrpSpPr>
          <p:cNvPr name="Group 17" id="17"/>
          <p:cNvGrpSpPr/>
          <p:nvPr/>
        </p:nvGrpSpPr>
        <p:grpSpPr>
          <a:xfrm rot="0">
            <a:off x="4912110" y="6639237"/>
            <a:ext cx="8463780" cy="84637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5493" t="-38064" r="-51732" b="0"/>
              </a:stretch>
            </a:blipFill>
            <a:ln w="161925" cap="sq">
              <a:solidFill>
                <a:srgbClr val="FF914D"/>
              </a:solidFill>
              <a:prstDash val="solid"/>
              <a:miter/>
            </a:ln>
          </p:spPr>
        </p:sp>
      </p:grpSp>
      <p:grpSp>
        <p:nvGrpSpPr>
          <p:cNvPr name="Group 19" id="19"/>
          <p:cNvGrpSpPr/>
          <p:nvPr/>
        </p:nvGrpSpPr>
        <p:grpSpPr>
          <a:xfrm rot="0">
            <a:off x="17259300" y="8197936"/>
            <a:ext cx="2089064" cy="20890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1" id="21"/>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7472739" y="4593562"/>
            <a:ext cx="3342521" cy="1625370"/>
          </a:xfrm>
          <a:prstGeom prst="rect">
            <a:avLst/>
          </a:prstGeom>
        </p:spPr>
        <p:txBody>
          <a:bodyPr anchor="t" rtlCol="false" tIns="0" lIns="0" bIns="0" rIns="0">
            <a:spAutoFit/>
          </a:bodyPr>
          <a:lstStyle/>
          <a:p>
            <a:pPr algn="ctr" marL="0" indent="0" lvl="0">
              <a:lnSpc>
                <a:spcPts val="11292"/>
              </a:lnSpc>
            </a:pPr>
            <a:r>
              <a:rPr lang="en-US" b="true" sz="11763" spc="-599">
                <a:solidFill>
                  <a:srgbClr val="FF914D"/>
                </a:solidFill>
                <a:latin typeface="Poppins Semi-Bold"/>
                <a:ea typeface="Poppins Semi-Bold"/>
                <a:cs typeface="Poppins Semi-Bold"/>
                <a:sym typeface="Poppins Semi-Bold"/>
              </a:rPr>
              <a:t>&amp;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280346" y="2317656"/>
            <a:ext cx="8564984" cy="3093322"/>
          </a:xfrm>
          <a:prstGeom prst="rect">
            <a:avLst/>
          </a:prstGeom>
        </p:spPr>
        <p:txBody>
          <a:bodyPr anchor="t" rtlCol="false" tIns="0" lIns="0" bIns="0" rIns="0">
            <a:spAutoFit/>
          </a:bodyPr>
          <a:lstStyle/>
          <a:p>
            <a:pPr algn="l" marL="0" indent="0" lvl="0">
              <a:lnSpc>
                <a:spcPts val="11427"/>
              </a:lnSpc>
            </a:pPr>
            <a:r>
              <a:rPr lang="en-US" b="true" sz="11903" spc="-607">
                <a:solidFill>
                  <a:srgbClr val="FF914D"/>
                </a:solidFill>
                <a:latin typeface="Poppins Semi-Bold"/>
                <a:ea typeface="Poppins Semi-Bold"/>
                <a:cs typeface="Poppins Semi-Bold"/>
                <a:sym typeface="Poppins Semi-Bold"/>
              </a:rPr>
              <a:t>Technology Stack</a:t>
            </a:r>
          </a:p>
        </p:txBody>
      </p:sp>
      <p:sp>
        <p:nvSpPr>
          <p:cNvPr name="TextBox 6" id="6"/>
          <p:cNvSpPr txBox="true"/>
          <p:nvPr/>
        </p:nvSpPr>
        <p:spPr>
          <a:xfrm rot="0">
            <a:off x="9144000" y="6468676"/>
            <a:ext cx="7720619" cy="332016"/>
          </a:xfrm>
          <a:prstGeom prst="rect">
            <a:avLst/>
          </a:prstGeom>
        </p:spPr>
        <p:txBody>
          <a:bodyPr anchor="t" rtlCol="false" tIns="0" lIns="0" bIns="0" rIns="0">
            <a:spAutoFit/>
          </a:bodyPr>
          <a:lstStyle/>
          <a:p>
            <a:pPr algn="l" marL="0" indent="0" lvl="0">
              <a:lnSpc>
                <a:spcPts val="2699"/>
              </a:lnSpc>
            </a:pPr>
            <a:r>
              <a:rPr lang="en-US" b="true" sz="1928" spc="241">
                <a:solidFill>
                  <a:srgbClr val="FFFFFF"/>
                </a:solidFill>
                <a:latin typeface="Poppins Bold"/>
                <a:ea typeface="Poppins Bold"/>
                <a:cs typeface="Poppins Bold"/>
                <a:sym typeface="Poppins Bold"/>
              </a:rPr>
              <a:t>OVERVIEW OF TOOLS POWERING THE PIPELINE</a:t>
            </a:r>
          </a:p>
        </p:txBody>
      </p:sp>
      <p:sp>
        <p:nvSpPr>
          <p:cNvPr name="TextBox 7" id="7"/>
          <p:cNvSpPr txBox="true"/>
          <p:nvPr/>
        </p:nvSpPr>
        <p:spPr>
          <a:xfrm rot="0">
            <a:off x="11792179" y="1141953"/>
            <a:ext cx="927891" cy="233752"/>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FFFFFF"/>
                </a:solidFill>
                <a:latin typeface="Poppins"/>
                <a:ea typeface="Poppins"/>
                <a:cs typeface="Poppins"/>
                <a:sym typeface="Poppins"/>
              </a:rPr>
              <a:t>04</a:t>
            </a:r>
          </a:p>
        </p:txBody>
      </p:sp>
      <p:sp>
        <p:nvSpPr>
          <p:cNvPr name="TextBox 8" id="8"/>
          <p:cNvSpPr txBox="true"/>
          <p:nvPr/>
        </p:nvSpPr>
        <p:spPr>
          <a:xfrm rot="0">
            <a:off x="13824969" y="1141953"/>
            <a:ext cx="927891" cy="233752"/>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FFFFFF"/>
                </a:solidFill>
                <a:latin typeface="Poppins"/>
                <a:ea typeface="Poppins"/>
                <a:cs typeface="Poppins"/>
                <a:sym typeface="Poppins"/>
              </a:rPr>
              <a:t>of 19</a:t>
            </a:r>
          </a:p>
        </p:txBody>
      </p:sp>
      <p:sp>
        <p:nvSpPr>
          <p:cNvPr name="TextBox 9" id="9"/>
          <p:cNvSpPr txBox="true"/>
          <p:nvPr/>
        </p:nvSpPr>
        <p:spPr>
          <a:xfrm rot="0">
            <a:off x="15689514" y="1141953"/>
            <a:ext cx="1441239" cy="233752"/>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FF914D"/>
                </a:solidFill>
                <a:latin typeface="Poppins"/>
                <a:ea typeface="Poppins"/>
                <a:cs typeface="Poppins"/>
                <a:sym typeface="Poppins"/>
              </a:rPr>
              <a:t>Tech Stack</a:t>
            </a:r>
          </a:p>
        </p:txBody>
      </p:sp>
      <p:sp>
        <p:nvSpPr>
          <p:cNvPr name="TextBox 10" id="10"/>
          <p:cNvSpPr txBox="true"/>
          <p:nvPr/>
        </p:nvSpPr>
        <p:spPr>
          <a:xfrm rot="0">
            <a:off x="1028700" y="1076325"/>
            <a:ext cx="2219723" cy="444517"/>
          </a:xfrm>
          <a:prstGeom prst="rect">
            <a:avLst/>
          </a:prstGeom>
        </p:spPr>
        <p:txBody>
          <a:bodyPr anchor="t" rtlCol="false" tIns="0" lIns="0" bIns="0" rIns="0">
            <a:spAutoFit/>
          </a:bodyPr>
          <a:lstStyle/>
          <a:p>
            <a:pPr algn="l" marL="0" indent="0" lvl="0">
              <a:lnSpc>
                <a:spcPts val="3114"/>
              </a:lnSpc>
            </a:pPr>
            <a:r>
              <a:rPr lang="en-US" b="true" sz="3244" spc="-165">
                <a:solidFill>
                  <a:srgbClr val="FFFFFF"/>
                </a:solidFill>
                <a:latin typeface="Poppins Semi-Bold"/>
                <a:ea typeface="Poppins Semi-Bold"/>
                <a:cs typeface="Poppins Semi-Bold"/>
                <a:sym typeface="Poppins Semi-Bold"/>
              </a:rPr>
              <a:t>Big Data ML</a:t>
            </a:r>
          </a:p>
        </p:txBody>
      </p:sp>
      <p:sp>
        <p:nvSpPr>
          <p:cNvPr name="TextBox 11" id="11"/>
          <p:cNvSpPr txBox="true"/>
          <p:nvPr/>
        </p:nvSpPr>
        <p:spPr>
          <a:xfrm rot="0">
            <a:off x="9144000" y="7212055"/>
            <a:ext cx="7720619" cy="2559229"/>
          </a:xfrm>
          <a:prstGeom prst="rect">
            <a:avLst/>
          </a:prstGeom>
        </p:spPr>
        <p:txBody>
          <a:bodyPr anchor="t" rtlCol="false" tIns="0" lIns="0" bIns="0" rIns="0">
            <a:spAutoFit/>
          </a:bodyPr>
          <a:lstStyle/>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Data Storage: Apache Cassandra (distributed NoSQL)</a:t>
            </a:r>
          </a:p>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ML Training: Apache Spark (distributed processing)</a:t>
            </a:r>
          </a:p>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Data Preparation: Python 3.11+</a:t>
            </a:r>
          </a:p>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NLP Embeddings: sentence-transformers, Word2Vec</a:t>
            </a:r>
          </a:p>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Visualization: Seaborn, Matplotlib, Plotly</a:t>
            </a:r>
          </a:p>
          <a:p>
            <a:pPr algn="l" marL="0" indent="0" lvl="0">
              <a:lnSpc>
                <a:spcPts val="3395"/>
              </a:lnSpc>
              <a:spcBef>
                <a:spcPct val="0"/>
              </a:spcBef>
            </a:pPr>
            <a:r>
              <a:rPr lang="en-US" sz="1997" strike="noStrike" u="none">
                <a:solidFill>
                  <a:srgbClr val="FFFFFF">
                    <a:alpha val="71765"/>
                  </a:srgbClr>
                </a:solidFill>
                <a:latin typeface="Poppins"/>
                <a:ea typeface="Poppins"/>
                <a:cs typeface="Poppins"/>
                <a:sym typeface="Poppins"/>
              </a:rPr>
              <a:t>• Containerization: Docker Compose</a:t>
            </a:r>
          </a:p>
        </p:txBody>
      </p:sp>
      <p:grpSp>
        <p:nvGrpSpPr>
          <p:cNvPr name="Group 12" id="12"/>
          <p:cNvGrpSpPr/>
          <p:nvPr/>
        </p:nvGrpSpPr>
        <p:grpSpPr>
          <a:xfrm rot="0">
            <a:off x="1280346" y="6055392"/>
            <a:ext cx="6992698" cy="4582719"/>
            <a:chOff x="0" y="0"/>
            <a:chExt cx="1124819" cy="737159"/>
          </a:xfrm>
        </p:grpSpPr>
        <p:sp>
          <p:nvSpPr>
            <p:cNvPr name="Freeform 13" id="13"/>
            <p:cNvSpPr/>
            <p:nvPr/>
          </p:nvSpPr>
          <p:spPr>
            <a:xfrm flipH="false" flipV="false" rot="0">
              <a:off x="0" y="0"/>
              <a:ext cx="1124819" cy="737159"/>
            </a:xfrm>
            <a:custGeom>
              <a:avLst/>
              <a:gdLst/>
              <a:ahLst/>
              <a:cxnLst/>
              <a:rect r="r" b="b" t="t" l="l"/>
              <a:pathLst>
                <a:path h="737159" w="1124819">
                  <a:moveTo>
                    <a:pt x="25464" y="0"/>
                  </a:moveTo>
                  <a:lnTo>
                    <a:pt x="1099355" y="0"/>
                  </a:lnTo>
                  <a:cubicBezTo>
                    <a:pt x="1113418" y="0"/>
                    <a:pt x="1124819" y="11401"/>
                    <a:pt x="1124819" y="25464"/>
                  </a:cubicBezTo>
                  <a:lnTo>
                    <a:pt x="1124819" y="711695"/>
                  </a:lnTo>
                  <a:cubicBezTo>
                    <a:pt x="1124819" y="725758"/>
                    <a:pt x="1113418" y="737159"/>
                    <a:pt x="1099355" y="737159"/>
                  </a:cubicBezTo>
                  <a:lnTo>
                    <a:pt x="25464" y="737159"/>
                  </a:lnTo>
                  <a:cubicBezTo>
                    <a:pt x="11401" y="737159"/>
                    <a:pt x="0" y="725758"/>
                    <a:pt x="0" y="711695"/>
                  </a:cubicBezTo>
                  <a:lnTo>
                    <a:pt x="0" y="25464"/>
                  </a:lnTo>
                  <a:cubicBezTo>
                    <a:pt x="0" y="11401"/>
                    <a:pt x="11401" y="0"/>
                    <a:pt x="25464" y="0"/>
                  </a:cubicBezTo>
                  <a:close/>
                </a:path>
              </a:pathLst>
            </a:custGeom>
            <a:blipFill>
              <a:blip r:embed="rId2"/>
              <a:stretch>
                <a:fillRect l="0" t="-1403" r="0" b="-1403"/>
              </a:stretch>
            </a:blipFill>
            <a:ln w="123825" cap="rnd">
              <a:solidFill>
                <a:srgbClr val="FF914D"/>
              </a:solidFill>
              <a:prstDash val="solid"/>
              <a:round/>
            </a:ln>
          </p:spPr>
        </p:sp>
      </p:grpSp>
      <p:grpSp>
        <p:nvGrpSpPr>
          <p:cNvPr name="Group 14" id="14"/>
          <p:cNvGrpSpPr/>
          <p:nvPr/>
        </p:nvGrpSpPr>
        <p:grpSpPr>
          <a:xfrm rot="0">
            <a:off x="9637764" y="2366273"/>
            <a:ext cx="7621536" cy="3265400"/>
            <a:chOff x="0" y="0"/>
            <a:chExt cx="1720550" cy="737159"/>
          </a:xfrm>
        </p:grpSpPr>
        <p:sp>
          <p:nvSpPr>
            <p:cNvPr name="Freeform 15" id="15"/>
            <p:cNvSpPr/>
            <p:nvPr/>
          </p:nvSpPr>
          <p:spPr>
            <a:xfrm flipH="false" flipV="false" rot="0">
              <a:off x="0" y="0"/>
              <a:ext cx="1720550" cy="737159"/>
            </a:xfrm>
            <a:custGeom>
              <a:avLst/>
              <a:gdLst/>
              <a:ahLst/>
              <a:cxnLst/>
              <a:rect r="r" b="b" t="t" l="l"/>
              <a:pathLst>
                <a:path h="737159" w="1720550">
                  <a:moveTo>
                    <a:pt x="23363" y="0"/>
                  </a:moveTo>
                  <a:lnTo>
                    <a:pt x="1697187" y="0"/>
                  </a:lnTo>
                  <a:cubicBezTo>
                    <a:pt x="1703383" y="0"/>
                    <a:pt x="1709325" y="2461"/>
                    <a:pt x="1713707" y="6843"/>
                  </a:cubicBezTo>
                  <a:cubicBezTo>
                    <a:pt x="1718088" y="11224"/>
                    <a:pt x="1720550" y="17167"/>
                    <a:pt x="1720550" y="23363"/>
                  </a:cubicBezTo>
                  <a:lnTo>
                    <a:pt x="1720550" y="713796"/>
                  </a:lnTo>
                  <a:cubicBezTo>
                    <a:pt x="1720550" y="726699"/>
                    <a:pt x="1710090" y="737159"/>
                    <a:pt x="1697187" y="737159"/>
                  </a:cubicBezTo>
                  <a:lnTo>
                    <a:pt x="23363" y="737159"/>
                  </a:lnTo>
                  <a:cubicBezTo>
                    <a:pt x="10460" y="737159"/>
                    <a:pt x="0" y="726699"/>
                    <a:pt x="0" y="713796"/>
                  </a:cubicBezTo>
                  <a:lnTo>
                    <a:pt x="0" y="23363"/>
                  </a:lnTo>
                  <a:cubicBezTo>
                    <a:pt x="0" y="10460"/>
                    <a:pt x="10460" y="0"/>
                    <a:pt x="23363" y="0"/>
                  </a:cubicBezTo>
                  <a:close/>
                </a:path>
              </a:pathLst>
            </a:custGeom>
            <a:blipFill>
              <a:blip r:embed="rId3"/>
              <a:stretch>
                <a:fillRect l="0" t="-16519" r="0" b="-16519"/>
              </a:stretch>
            </a:blipFill>
            <a:ln w="123825" cap="rnd">
              <a:solidFill>
                <a:srgbClr val="FF914D"/>
              </a:solidFill>
              <a:prstDash val="solid"/>
              <a:round/>
            </a:ln>
          </p:spPr>
        </p:sp>
      </p:grpSp>
      <p:grpSp>
        <p:nvGrpSpPr>
          <p:cNvPr name="Group 16" id="16"/>
          <p:cNvGrpSpPr/>
          <p:nvPr/>
        </p:nvGrpSpPr>
        <p:grpSpPr>
          <a:xfrm rot="0">
            <a:off x="16989895" y="9111221"/>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grpSp>
        <p:nvGrpSpPr>
          <p:cNvPr name="Group 5" id="5"/>
          <p:cNvGrpSpPr/>
          <p:nvPr/>
        </p:nvGrpSpPr>
        <p:grpSpPr>
          <a:xfrm rot="-2343210">
            <a:off x="-6513274" y="4115322"/>
            <a:ext cx="15481808" cy="7740904"/>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lnTo>
                    <a:pt x="609600" y="0"/>
                  </a:lnTo>
                  <a:close/>
                </a:path>
              </a:pathLst>
            </a:custGeom>
            <a:ln w="38100" cap="rnd">
              <a:solidFill>
                <a:srgbClr val="FF914D"/>
              </a:solidFill>
              <a:prstDash val="solid"/>
              <a:round/>
            </a:ln>
          </p:spPr>
        </p:sp>
        <p:sp>
          <p:nvSpPr>
            <p:cNvPr name="TextBox 7" id="7"/>
            <p:cNvSpPr txBox="true"/>
            <p:nvPr/>
          </p:nvSpPr>
          <p:spPr>
            <a:xfrm>
              <a:off x="0" y="-57150"/>
              <a:ext cx="812800" cy="463550"/>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8" id="8"/>
          <p:cNvGrpSpPr/>
          <p:nvPr/>
        </p:nvGrpSpPr>
        <p:grpSpPr>
          <a:xfrm rot="0">
            <a:off x="633020" y="2071990"/>
            <a:ext cx="7078346" cy="70783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w="161925" cap="sq">
              <a:solidFill>
                <a:srgbClr val="FF914D"/>
              </a:solidFill>
              <a:prstDash val="solid"/>
              <a:miter/>
            </a:ln>
          </p:spPr>
        </p:sp>
      </p:grpSp>
      <p:grpSp>
        <p:nvGrpSpPr>
          <p:cNvPr name="Group 10" id="10"/>
          <p:cNvGrpSpPr/>
          <p:nvPr/>
        </p:nvGrpSpPr>
        <p:grpSpPr>
          <a:xfrm rot="0">
            <a:off x="5826642" y="6865446"/>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8909842" y="2651292"/>
            <a:ext cx="8564984" cy="2202523"/>
          </a:xfrm>
          <a:prstGeom prst="rect">
            <a:avLst/>
          </a:prstGeom>
        </p:spPr>
        <p:txBody>
          <a:bodyPr anchor="t" rtlCol="false" tIns="0" lIns="0" bIns="0" rIns="0">
            <a:spAutoFit/>
          </a:bodyPr>
          <a:lstStyle/>
          <a:p>
            <a:pPr algn="l" marL="0" indent="0" lvl="0">
              <a:lnSpc>
                <a:spcPts val="8135"/>
              </a:lnSpc>
            </a:pPr>
            <a:r>
              <a:rPr lang="en-US" b="true" sz="8474" spc="-432">
                <a:solidFill>
                  <a:srgbClr val="FF914D"/>
                </a:solidFill>
                <a:latin typeface="Poppins Semi-Bold"/>
                <a:ea typeface="Poppins Semi-Bold"/>
                <a:cs typeface="Poppins Semi-Bold"/>
                <a:sym typeface="Poppins Semi-Bold"/>
              </a:rPr>
              <a:t>Data Pipeline &amp; Quality Rules</a:t>
            </a:r>
          </a:p>
        </p:txBody>
      </p:sp>
      <p:sp>
        <p:nvSpPr>
          <p:cNvPr name="TextBox 14" id="14"/>
          <p:cNvSpPr txBox="true"/>
          <p:nvPr/>
        </p:nvSpPr>
        <p:spPr>
          <a:xfrm rot="0">
            <a:off x="8909842" y="5998242"/>
            <a:ext cx="7720619" cy="350338"/>
          </a:xfrm>
          <a:prstGeom prst="rect">
            <a:avLst/>
          </a:prstGeom>
        </p:spPr>
        <p:txBody>
          <a:bodyPr anchor="t" rtlCol="false" tIns="0" lIns="0" bIns="0" rIns="0">
            <a:spAutoFit/>
          </a:bodyPr>
          <a:lstStyle/>
          <a:p>
            <a:pPr algn="l" marL="0" indent="0" lvl="0">
              <a:lnSpc>
                <a:spcPts val="2740"/>
              </a:lnSpc>
            </a:pPr>
            <a:r>
              <a:rPr lang="en-US" b="true" sz="1957" spc="244">
                <a:solidFill>
                  <a:srgbClr val="FFFFFF"/>
                </a:solidFill>
                <a:latin typeface="Poppins Bold"/>
                <a:ea typeface="Poppins Bold"/>
                <a:cs typeface="Poppins Bold"/>
                <a:sym typeface="Poppins Bold"/>
              </a:rPr>
              <a:t>DATA INGESTION, CLEANING &amp; PREPARATION</a:t>
            </a:r>
          </a:p>
        </p:txBody>
      </p:sp>
      <p:sp>
        <p:nvSpPr>
          <p:cNvPr name="TextBox 15" id="15"/>
          <p:cNvSpPr txBox="true"/>
          <p:nvPr/>
        </p:nvSpPr>
        <p:spPr>
          <a:xfrm rot="0">
            <a:off x="11792179" y="1132428"/>
            <a:ext cx="927891"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FFFF"/>
                </a:solidFill>
                <a:latin typeface="Poppins"/>
                <a:ea typeface="Poppins"/>
                <a:cs typeface="Poppins"/>
                <a:sym typeface="Poppins"/>
              </a:rPr>
              <a:t>Home</a:t>
            </a:r>
          </a:p>
        </p:txBody>
      </p:sp>
      <p:sp>
        <p:nvSpPr>
          <p:cNvPr name="TextBox 16" id="16"/>
          <p:cNvSpPr txBox="true"/>
          <p:nvPr/>
        </p:nvSpPr>
        <p:spPr>
          <a:xfrm rot="0">
            <a:off x="13824969" y="1132428"/>
            <a:ext cx="927891"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FFFF"/>
                </a:solidFill>
                <a:latin typeface="Poppins"/>
                <a:ea typeface="Poppins"/>
                <a:cs typeface="Poppins"/>
                <a:sym typeface="Poppins"/>
              </a:rPr>
              <a:t>About</a:t>
            </a:r>
          </a:p>
        </p:txBody>
      </p:sp>
      <p:sp>
        <p:nvSpPr>
          <p:cNvPr name="TextBox 17" id="17"/>
          <p:cNvSpPr txBox="true"/>
          <p:nvPr/>
        </p:nvSpPr>
        <p:spPr>
          <a:xfrm rot="0">
            <a:off x="15689514" y="1132428"/>
            <a:ext cx="1441239"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914D"/>
                </a:solidFill>
                <a:latin typeface="Poppins"/>
                <a:ea typeface="Poppins"/>
                <a:cs typeface="Poppins"/>
                <a:sym typeface="Poppins"/>
              </a:rPr>
              <a:t>Contact</a:t>
            </a:r>
          </a:p>
        </p:txBody>
      </p:sp>
      <p:sp>
        <p:nvSpPr>
          <p:cNvPr name="TextBox 18" id="18"/>
          <p:cNvSpPr txBox="true"/>
          <p:nvPr/>
        </p:nvSpPr>
        <p:spPr>
          <a:xfrm rot="0">
            <a:off x="1028700" y="1066800"/>
            <a:ext cx="2219723" cy="369086"/>
          </a:xfrm>
          <a:prstGeom prst="rect">
            <a:avLst/>
          </a:prstGeom>
        </p:spPr>
        <p:txBody>
          <a:bodyPr anchor="t" rtlCol="false" tIns="0" lIns="0" bIns="0" rIns="0">
            <a:spAutoFit/>
          </a:bodyPr>
          <a:lstStyle/>
          <a:p>
            <a:pPr algn="l" marL="0" indent="0" lvl="0">
              <a:lnSpc>
                <a:spcPts val="2582"/>
              </a:lnSpc>
            </a:pPr>
            <a:r>
              <a:rPr lang="en-US" b="true" sz="2689" spc="-137">
                <a:solidFill>
                  <a:srgbClr val="FFFFFF"/>
                </a:solidFill>
                <a:latin typeface="Poppins Semi-Bold"/>
                <a:ea typeface="Poppins Semi-Bold"/>
                <a:cs typeface="Poppins Semi-Bold"/>
                <a:sym typeface="Poppins Semi-Bold"/>
              </a:rPr>
              <a:t>Yelp Analytics</a:t>
            </a:r>
          </a:p>
        </p:txBody>
      </p:sp>
      <p:sp>
        <p:nvSpPr>
          <p:cNvPr name="TextBox 19" id="19"/>
          <p:cNvSpPr txBox="true"/>
          <p:nvPr/>
        </p:nvSpPr>
        <p:spPr>
          <a:xfrm rot="0">
            <a:off x="8909842" y="6760671"/>
            <a:ext cx="7720619" cy="2030552"/>
          </a:xfrm>
          <a:prstGeom prst="rect">
            <a:avLst/>
          </a:prstGeom>
        </p:spPr>
        <p:txBody>
          <a:bodyPr anchor="t" rtlCol="false" tIns="0" lIns="0" bIns="0" rIns="0">
            <a:spAutoFit/>
          </a:bodyPr>
          <a:lstStyle/>
          <a:p>
            <a:pPr algn="l" marL="0" indent="0" lvl="0">
              <a:lnSpc>
                <a:spcPts val="3268"/>
              </a:lnSpc>
              <a:spcBef>
                <a:spcPct val="0"/>
              </a:spcBef>
            </a:pPr>
            <a:r>
              <a:rPr lang="en-US" sz="1922" strike="noStrike" u="none">
                <a:solidFill>
                  <a:srgbClr val="FFFFFF">
                    <a:alpha val="71765"/>
                  </a:srgbClr>
                </a:solidFill>
                <a:latin typeface="Poppins"/>
                <a:ea typeface="Poppins"/>
                <a:cs typeface="Poppins"/>
                <a:sym typeface="Poppins"/>
              </a:rPr>
              <a:t>Ingested &amp; cleaned 7M+ reviews and 150K+ business records. Modular prepare_data.py pipeline with: Unicode NFKC normalization, URL &amp; email removal, case folding to lowercase, punctuation stripping except apostrophes, length filtering (15–8,000 chars), deduplication by (business_id, cleaned_text).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653916" y="2447348"/>
            <a:ext cx="14980167" cy="1169650"/>
          </a:xfrm>
          <a:prstGeom prst="rect">
            <a:avLst/>
          </a:prstGeom>
        </p:spPr>
        <p:txBody>
          <a:bodyPr anchor="t" rtlCol="false" tIns="0" lIns="0" bIns="0" rIns="0">
            <a:spAutoFit/>
          </a:bodyPr>
          <a:lstStyle/>
          <a:p>
            <a:pPr algn="ctr" marL="0" indent="0" lvl="0">
              <a:lnSpc>
                <a:spcPts val="8039"/>
              </a:lnSpc>
            </a:pPr>
            <a:r>
              <a:rPr lang="en-US" b="true" sz="8374" spc="-427">
                <a:solidFill>
                  <a:srgbClr val="FF914D"/>
                </a:solidFill>
                <a:latin typeface="Poppins Semi-Bold"/>
                <a:ea typeface="Poppins Semi-Bold"/>
                <a:cs typeface="Poppins Semi-Bold"/>
                <a:sym typeface="Poppins Semi-Bold"/>
              </a:rPr>
              <a:t>Review Text Cleaning Function</a:t>
            </a:r>
          </a:p>
        </p:txBody>
      </p:sp>
      <p:sp>
        <p:nvSpPr>
          <p:cNvPr name="TextBox 6" id="6"/>
          <p:cNvSpPr txBox="true"/>
          <p:nvPr/>
        </p:nvSpPr>
        <p:spPr>
          <a:xfrm rot="0">
            <a:off x="11792179" y="1122903"/>
            <a:ext cx="927891" cy="375286"/>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FFFFFF"/>
                </a:solidFill>
                <a:latin typeface="Poppins"/>
                <a:ea typeface="Poppins"/>
                <a:cs typeface="Poppins"/>
                <a:sym typeface="Poppins"/>
              </a:rPr>
              <a:t>Code</a:t>
            </a:r>
          </a:p>
        </p:txBody>
      </p:sp>
      <p:sp>
        <p:nvSpPr>
          <p:cNvPr name="TextBox 7" id="7"/>
          <p:cNvSpPr txBox="true"/>
          <p:nvPr/>
        </p:nvSpPr>
        <p:spPr>
          <a:xfrm rot="0">
            <a:off x="13824969" y="1122903"/>
            <a:ext cx="927891" cy="375286"/>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FFFFFF"/>
                </a:solidFill>
                <a:latin typeface="Poppins"/>
                <a:ea typeface="Poppins"/>
                <a:cs typeface="Poppins"/>
                <a:sym typeface="Poppins"/>
              </a:rPr>
              <a:t>Docs</a:t>
            </a:r>
          </a:p>
        </p:txBody>
      </p:sp>
      <p:sp>
        <p:nvSpPr>
          <p:cNvPr name="TextBox 8" id="8"/>
          <p:cNvSpPr txBox="true"/>
          <p:nvPr/>
        </p:nvSpPr>
        <p:spPr>
          <a:xfrm rot="0">
            <a:off x="15689514" y="1122903"/>
            <a:ext cx="1441239" cy="375286"/>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FF914D"/>
                </a:solidFill>
                <a:latin typeface="Poppins"/>
                <a:ea typeface="Poppins"/>
                <a:cs typeface="Poppins"/>
                <a:sym typeface="Poppins"/>
              </a:rPr>
              <a:t>Pipeline</a:t>
            </a:r>
          </a:p>
        </p:txBody>
      </p:sp>
      <p:sp>
        <p:nvSpPr>
          <p:cNvPr name="TextBox 9" id="9"/>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ML</a:t>
            </a:r>
          </a:p>
        </p:txBody>
      </p:sp>
      <p:grpSp>
        <p:nvGrpSpPr>
          <p:cNvPr name="Group 10" id="10"/>
          <p:cNvGrpSpPr/>
          <p:nvPr/>
        </p:nvGrpSpPr>
        <p:grpSpPr>
          <a:xfrm rot="0">
            <a:off x="-1044532" y="2342573"/>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1985212" y="5343027"/>
            <a:ext cx="5274088" cy="1444625"/>
          </a:xfrm>
          <a:prstGeom prst="rect">
            <a:avLst/>
          </a:prstGeom>
        </p:spPr>
        <p:txBody>
          <a:bodyPr anchor="t" rtlCol="false" tIns="0" lIns="0" bIns="0" rIns="0">
            <a:spAutoFit/>
          </a:bodyPr>
          <a:lstStyle/>
          <a:p>
            <a:pPr algn="l"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 Punctuation stripping (preserves apostrophes)</a:t>
            </a:r>
          </a:p>
          <a:p>
            <a:pPr algn="l"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 Length filtering: 15–8,000 characters</a:t>
            </a:r>
          </a:p>
          <a:p>
            <a:pPr algn="l"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 Returns None for invalid inputs</a:t>
            </a:r>
          </a:p>
          <a:p>
            <a:pPr algn="l"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 Modular design for pipeline integration</a:t>
            </a:r>
          </a:p>
        </p:txBody>
      </p:sp>
      <p:sp>
        <p:nvSpPr>
          <p:cNvPr name="TextBox 14" id="14"/>
          <p:cNvSpPr txBox="true"/>
          <p:nvPr/>
        </p:nvSpPr>
        <p:spPr>
          <a:xfrm rot="0">
            <a:off x="11985212" y="4774706"/>
            <a:ext cx="4060154" cy="308509"/>
          </a:xfrm>
          <a:prstGeom prst="rect">
            <a:avLst/>
          </a:prstGeom>
        </p:spPr>
        <p:txBody>
          <a:bodyPr anchor="t" rtlCol="false" tIns="0" lIns="0" bIns="0" rIns="0">
            <a:spAutoFit/>
          </a:bodyPr>
          <a:lstStyle/>
          <a:p>
            <a:pPr algn="l" marL="0" indent="0" lvl="0">
              <a:lnSpc>
                <a:spcPts val="2420"/>
              </a:lnSpc>
            </a:pPr>
            <a:r>
              <a:rPr lang="en-US" b="true" sz="1728" spc="216">
                <a:solidFill>
                  <a:srgbClr val="FFFFFF"/>
                </a:solidFill>
                <a:latin typeface="Poppins Bold"/>
                <a:ea typeface="Poppins Bold"/>
                <a:cs typeface="Poppins Bold"/>
                <a:sym typeface="Poppins Bold"/>
              </a:rPr>
              <a:t>KEY FEATURES</a:t>
            </a:r>
          </a:p>
        </p:txBody>
      </p:sp>
      <p:sp>
        <p:nvSpPr>
          <p:cNvPr name="TextBox 15" id="15"/>
          <p:cNvSpPr txBox="true"/>
          <p:nvPr/>
        </p:nvSpPr>
        <p:spPr>
          <a:xfrm rot="0">
            <a:off x="538305" y="5454152"/>
            <a:ext cx="5420237" cy="2581275"/>
          </a:xfrm>
          <a:prstGeom prst="rect">
            <a:avLst/>
          </a:prstGeom>
        </p:spPr>
        <p:txBody>
          <a:bodyPr anchor="t" rtlCol="false" tIns="0" lIns="0" bIns="0" rIns="0">
            <a:spAutoFit/>
          </a:bodyPr>
          <a:lstStyle/>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def clean_review_text(text):</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text = unicodedata.normalize('NFKC', text)</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text = re.sub(r'http\S+|\S+@\S+', '', text)</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text = text.lower()</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text = re.sub(r"[^\w\s']", '', text)</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if len(text) &lt; 15 or len(text) &gt; 8000:</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return None</a:t>
            </a:r>
          </a:p>
          <a:p>
            <a:pPr algn="r"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return text.strip()</a:t>
            </a:r>
          </a:p>
        </p:txBody>
      </p:sp>
      <p:sp>
        <p:nvSpPr>
          <p:cNvPr name="TextBox 16" id="16"/>
          <p:cNvSpPr txBox="true"/>
          <p:nvPr/>
        </p:nvSpPr>
        <p:spPr>
          <a:xfrm rot="0">
            <a:off x="1388041" y="4983193"/>
            <a:ext cx="4570501" cy="282514"/>
          </a:xfrm>
          <a:prstGeom prst="rect">
            <a:avLst/>
          </a:prstGeom>
        </p:spPr>
        <p:txBody>
          <a:bodyPr anchor="t" rtlCol="false" tIns="0" lIns="0" bIns="0" rIns="0">
            <a:spAutoFit/>
          </a:bodyPr>
          <a:lstStyle/>
          <a:p>
            <a:pPr algn="r" marL="0" indent="0" lvl="0">
              <a:lnSpc>
                <a:spcPts val="2296"/>
              </a:lnSpc>
            </a:pPr>
            <a:r>
              <a:rPr lang="en-US" b="true" sz="1640" spc="205">
                <a:solidFill>
                  <a:srgbClr val="FFFFFF"/>
                </a:solidFill>
                <a:latin typeface="Poppins Bold"/>
                <a:ea typeface="Poppins Bold"/>
                <a:cs typeface="Poppins Bold"/>
                <a:sym typeface="Poppins Bold"/>
              </a:rPr>
              <a:t>LISTING 3: CLEAN_REVIEW_TEXT</a:t>
            </a:r>
          </a:p>
        </p:txBody>
      </p:sp>
      <p:grpSp>
        <p:nvGrpSpPr>
          <p:cNvPr name="Group 17" id="17"/>
          <p:cNvGrpSpPr/>
          <p:nvPr/>
        </p:nvGrpSpPr>
        <p:grpSpPr>
          <a:xfrm rot="0">
            <a:off x="4912110" y="6639237"/>
            <a:ext cx="8463780" cy="84637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5493" t="-38064" r="-51732" b="0"/>
              </a:stretch>
            </a:blipFill>
            <a:ln w="161925" cap="sq">
              <a:solidFill>
                <a:srgbClr val="FF914D"/>
              </a:solidFill>
              <a:prstDash val="solid"/>
              <a:miter/>
            </a:ln>
          </p:spPr>
        </p:sp>
      </p:grpSp>
      <p:grpSp>
        <p:nvGrpSpPr>
          <p:cNvPr name="Group 19" id="19"/>
          <p:cNvGrpSpPr/>
          <p:nvPr/>
        </p:nvGrpSpPr>
        <p:grpSpPr>
          <a:xfrm rot="0">
            <a:off x="17259300" y="8197936"/>
            <a:ext cx="2089064" cy="20890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1" id="21"/>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7472739" y="4536412"/>
            <a:ext cx="3342521" cy="1169650"/>
          </a:xfrm>
          <a:prstGeom prst="rect">
            <a:avLst/>
          </a:prstGeom>
        </p:spPr>
        <p:txBody>
          <a:bodyPr anchor="t" rtlCol="false" tIns="0" lIns="0" bIns="0" rIns="0">
            <a:spAutoFit/>
          </a:bodyPr>
          <a:lstStyle/>
          <a:p>
            <a:pPr algn="ctr" marL="0" indent="0" lvl="0">
              <a:lnSpc>
                <a:spcPts val="8039"/>
              </a:lnSpc>
            </a:pPr>
            <a:r>
              <a:rPr lang="en-US" b="true" sz="8374" spc="-427">
                <a:solidFill>
                  <a:srgbClr val="FF914D"/>
                </a:solidFill>
                <a:latin typeface="Poppins Semi-Bold"/>
                <a:ea typeface="Poppins Semi-Bold"/>
                <a:cs typeface="Poppins Semi-Bold"/>
                <a:sym typeface="Poppins Semi-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grpSp>
        <p:nvGrpSpPr>
          <p:cNvPr name="Group 5" id="5"/>
          <p:cNvGrpSpPr/>
          <p:nvPr/>
        </p:nvGrpSpPr>
        <p:grpSpPr>
          <a:xfrm rot="-2343210">
            <a:off x="-6513274" y="4115322"/>
            <a:ext cx="15481808" cy="7740904"/>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lnTo>
                    <a:pt x="609600" y="0"/>
                  </a:lnTo>
                  <a:close/>
                </a:path>
              </a:pathLst>
            </a:custGeom>
            <a:ln w="38100" cap="rnd">
              <a:solidFill>
                <a:srgbClr val="FF914D"/>
              </a:solidFill>
              <a:prstDash val="solid"/>
              <a:round/>
            </a:ln>
          </p:spPr>
        </p:sp>
        <p:sp>
          <p:nvSpPr>
            <p:cNvPr name="TextBox 7" id="7"/>
            <p:cNvSpPr txBox="true"/>
            <p:nvPr/>
          </p:nvSpPr>
          <p:spPr>
            <a:xfrm>
              <a:off x="0" y="-57150"/>
              <a:ext cx="812800" cy="463550"/>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8" id="8"/>
          <p:cNvGrpSpPr/>
          <p:nvPr/>
        </p:nvGrpSpPr>
        <p:grpSpPr>
          <a:xfrm rot="0">
            <a:off x="633020" y="2071990"/>
            <a:ext cx="7078346" cy="70783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w="161925" cap="sq">
              <a:solidFill>
                <a:srgbClr val="FF914D"/>
              </a:solidFill>
              <a:prstDash val="solid"/>
              <a:miter/>
            </a:ln>
          </p:spPr>
        </p:sp>
      </p:grpSp>
      <p:grpSp>
        <p:nvGrpSpPr>
          <p:cNvPr name="Group 10" id="10"/>
          <p:cNvGrpSpPr/>
          <p:nvPr/>
        </p:nvGrpSpPr>
        <p:grpSpPr>
          <a:xfrm rot="0">
            <a:off x="5826642" y="6865446"/>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8909842" y="2651292"/>
            <a:ext cx="8564984" cy="2839235"/>
          </a:xfrm>
          <a:prstGeom prst="rect">
            <a:avLst/>
          </a:prstGeom>
        </p:spPr>
        <p:txBody>
          <a:bodyPr anchor="t" rtlCol="false" tIns="0" lIns="0" bIns="0" rIns="0">
            <a:spAutoFit/>
          </a:bodyPr>
          <a:lstStyle/>
          <a:p>
            <a:pPr algn="l" marL="0" indent="0" lvl="0">
              <a:lnSpc>
                <a:spcPts val="7177"/>
              </a:lnSpc>
            </a:pPr>
            <a:r>
              <a:rPr lang="en-US" b="true" sz="7476" spc="-381">
                <a:solidFill>
                  <a:srgbClr val="FF914D"/>
                </a:solidFill>
                <a:latin typeface="Poppins Semi-Bold"/>
                <a:ea typeface="Poppins Semi-Bold"/>
                <a:cs typeface="Poppins Semi-Bold"/>
                <a:sym typeface="Poppins Semi-Bold"/>
              </a:rPr>
              <a:t>ML Problem Definition &amp; Feature Engineering</a:t>
            </a:r>
          </a:p>
        </p:txBody>
      </p:sp>
      <p:sp>
        <p:nvSpPr>
          <p:cNvPr name="TextBox 14" id="14"/>
          <p:cNvSpPr txBox="true"/>
          <p:nvPr/>
        </p:nvSpPr>
        <p:spPr>
          <a:xfrm rot="0">
            <a:off x="8909842" y="5998242"/>
            <a:ext cx="7720619" cy="306879"/>
          </a:xfrm>
          <a:prstGeom prst="rect">
            <a:avLst/>
          </a:prstGeom>
        </p:spPr>
        <p:txBody>
          <a:bodyPr anchor="t" rtlCol="false" tIns="0" lIns="0" bIns="0" rIns="0">
            <a:spAutoFit/>
          </a:bodyPr>
          <a:lstStyle/>
          <a:p>
            <a:pPr algn="l" marL="0" indent="0" lvl="0">
              <a:lnSpc>
                <a:spcPts val="2365"/>
              </a:lnSpc>
            </a:pPr>
            <a:r>
              <a:rPr lang="en-US" sz="1689" spc="211">
                <a:solidFill>
                  <a:srgbClr val="FFFFFF"/>
                </a:solidFill>
                <a:latin typeface="Poppins"/>
                <a:ea typeface="Poppins"/>
                <a:cs typeface="Poppins"/>
                <a:sym typeface="Poppins"/>
              </a:rPr>
              <a:t>BINARY SENTIMENT CLASSIFICATION TASK</a:t>
            </a:r>
          </a:p>
        </p:txBody>
      </p:sp>
      <p:sp>
        <p:nvSpPr>
          <p:cNvPr name="TextBox 15" id="15"/>
          <p:cNvSpPr txBox="true"/>
          <p:nvPr/>
        </p:nvSpPr>
        <p:spPr>
          <a:xfrm rot="0">
            <a:off x="11792179" y="1132428"/>
            <a:ext cx="927891" cy="291465"/>
          </a:xfrm>
          <a:prstGeom prst="rect">
            <a:avLst/>
          </a:prstGeom>
        </p:spPr>
        <p:txBody>
          <a:bodyPr anchor="t" rtlCol="false" tIns="0" lIns="0" bIns="0" rIns="0">
            <a:spAutoFit/>
          </a:bodyPr>
          <a:lstStyle/>
          <a:p>
            <a:pPr algn="ctr" marL="0" indent="0" lvl="0">
              <a:lnSpc>
                <a:spcPts val="2310"/>
              </a:lnSpc>
              <a:spcBef>
                <a:spcPct val="0"/>
              </a:spcBef>
            </a:pPr>
            <a:r>
              <a:rPr lang="en-US" sz="1650">
                <a:solidFill>
                  <a:srgbClr val="FFFFFF"/>
                </a:solidFill>
                <a:latin typeface="Poppins"/>
                <a:ea typeface="Poppins"/>
                <a:cs typeface="Poppins"/>
                <a:sym typeface="Poppins"/>
              </a:rPr>
              <a:t>7/19</a:t>
            </a:r>
          </a:p>
        </p:txBody>
      </p:sp>
      <p:sp>
        <p:nvSpPr>
          <p:cNvPr name="TextBox 16" id="16"/>
          <p:cNvSpPr txBox="true"/>
          <p:nvPr/>
        </p:nvSpPr>
        <p:spPr>
          <a:xfrm rot="0">
            <a:off x="13824969" y="1132428"/>
            <a:ext cx="927891" cy="291465"/>
          </a:xfrm>
          <a:prstGeom prst="rect">
            <a:avLst/>
          </a:prstGeom>
        </p:spPr>
        <p:txBody>
          <a:bodyPr anchor="t" rtlCol="false" tIns="0" lIns="0" bIns="0" rIns="0">
            <a:spAutoFit/>
          </a:bodyPr>
          <a:lstStyle/>
          <a:p>
            <a:pPr algn="ctr" marL="0" indent="0" lvl="0">
              <a:lnSpc>
                <a:spcPts val="2310"/>
              </a:lnSpc>
              <a:spcBef>
                <a:spcPct val="0"/>
              </a:spcBef>
            </a:pPr>
            <a:r>
              <a:rPr lang="en-US" sz="1650">
                <a:solidFill>
                  <a:srgbClr val="FFFFFF"/>
                </a:solidFill>
                <a:latin typeface="Poppins"/>
                <a:ea typeface="Poppins"/>
                <a:cs typeface="Poppins"/>
                <a:sym typeface="Poppins"/>
              </a:rPr>
              <a:t>Features</a:t>
            </a:r>
          </a:p>
        </p:txBody>
      </p:sp>
      <p:sp>
        <p:nvSpPr>
          <p:cNvPr name="TextBox 17" id="17"/>
          <p:cNvSpPr txBox="true"/>
          <p:nvPr/>
        </p:nvSpPr>
        <p:spPr>
          <a:xfrm rot="0">
            <a:off x="15689514" y="1132428"/>
            <a:ext cx="1441239" cy="291465"/>
          </a:xfrm>
          <a:prstGeom prst="rect">
            <a:avLst/>
          </a:prstGeom>
        </p:spPr>
        <p:txBody>
          <a:bodyPr anchor="t" rtlCol="false" tIns="0" lIns="0" bIns="0" rIns="0">
            <a:spAutoFit/>
          </a:bodyPr>
          <a:lstStyle/>
          <a:p>
            <a:pPr algn="ctr" marL="0" indent="0" lvl="0">
              <a:lnSpc>
                <a:spcPts val="2310"/>
              </a:lnSpc>
              <a:spcBef>
                <a:spcPct val="0"/>
              </a:spcBef>
            </a:pPr>
            <a:r>
              <a:rPr lang="en-US" sz="1650">
                <a:solidFill>
                  <a:srgbClr val="FF914D"/>
                </a:solidFill>
                <a:latin typeface="Poppins"/>
                <a:ea typeface="Poppins"/>
                <a:cs typeface="Poppins"/>
                <a:sym typeface="Poppins"/>
              </a:rPr>
              <a:t>Pipeline</a:t>
            </a:r>
          </a:p>
        </p:txBody>
      </p:sp>
      <p:sp>
        <p:nvSpPr>
          <p:cNvPr name="TextBox 18" id="18"/>
          <p:cNvSpPr txBox="true"/>
          <p:nvPr/>
        </p:nvSpPr>
        <p:spPr>
          <a:xfrm rot="0">
            <a:off x="1028700" y="1066800"/>
            <a:ext cx="2219723" cy="369086"/>
          </a:xfrm>
          <a:prstGeom prst="rect">
            <a:avLst/>
          </a:prstGeom>
        </p:spPr>
        <p:txBody>
          <a:bodyPr anchor="t" rtlCol="false" tIns="0" lIns="0" bIns="0" rIns="0">
            <a:spAutoFit/>
          </a:bodyPr>
          <a:lstStyle/>
          <a:p>
            <a:pPr algn="l" marL="0" indent="0" lvl="0">
              <a:lnSpc>
                <a:spcPts val="2582"/>
              </a:lnSpc>
            </a:pPr>
            <a:r>
              <a:rPr lang="en-US" b="true" sz="2689" spc="-137">
                <a:solidFill>
                  <a:srgbClr val="FFFFFF"/>
                </a:solidFill>
                <a:latin typeface="Poppins Semi-Bold"/>
                <a:ea typeface="Poppins Semi-Bold"/>
                <a:cs typeface="Poppins Semi-Bold"/>
                <a:sym typeface="Poppins Semi-Bold"/>
              </a:rPr>
              <a:t>Yelp Analytics</a:t>
            </a:r>
          </a:p>
        </p:txBody>
      </p:sp>
      <p:sp>
        <p:nvSpPr>
          <p:cNvPr name="TextBox 19" id="19"/>
          <p:cNvSpPr txBox="true"/>
          <p:nvPr/>
        </p:nvSpPr>
        <p:spPr>
          <a:xfrm rot="0">
            <a:off x="8909842" y="6760671"/>
            <a:ext cx="7720619" cy="2330450"/>
          </a:xfrm>
          <a:prstGeom prst="rect">
            <a:avLst/>
          </a:prstGeom>
        </p:spPr>
        <p:txBody>
          <a:bodyPr anchor="t" rtlCol="false" tIns="0" lIns="0" bIns="0" rIns="0">
            <a:spAutoFit/>
          </a:bodyPr>
          <a:lstStyle/>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Classification: Positive (≥4 stars) vs Negative (&lt;4 stars)</a:t>
            </a:r>
          </a:p>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Feature Engineering:</a:t>
            </a:r>
          </a:p>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 TF-IDF vectors for term importance</a:t>
            </a:r>
          </a:p>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 N-grams for phrase patterns</a:t>
            </a:r>
          </a:p>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 Category vectors for business context</a:t>
            </a:r>
          </a:p>
          <a:p>
            <a:pPr algn="l" marL="0" indent="0" lvl="0">
              <a:lnSpc>
                <a:spcPts val="3145"/>
              </a:lnSpc>
              <a:spcBef>
                <a:spcPct val="0"/>
              </a:spcBef>
            </a:pPr>
            <a:r>
              <a:rPr lang="en-US" sz="1850" strike="noStrike" u="none">
                <a:solidFill>
                  <a:srgbClr val="FFFFFF">
                    <a:alpha val="71765"/>
                  </a:srgbClr>
                </a:solidFill>
                <a:latin typeface="Poppins"/>
                <a:ea typeface="Poppins"/>
                <a:cs typeface="Poppins"/>
                <a:sym typeface="Poppins"/>
              </a:rPr>
              <a:t>• 384-dimensional sentence embeddings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653916" y="2428298"/>
            <a:ext cx="14980167" cy="975933"/>
          </a:xfrm>
          <a:prstGeom prst="rect">
            <a:avLst/>
          </a:prstGeom>
        </p:spPr>
        <p:txBody>
          <a:bodyPr anchor="t" rtlCol="false" tIns="0" lIns="0" bIns="0" rIns="0">
            <a:spAutoFit/>
          </a:bodyPr>
          <a:lstStyle/>
          <a:p>
            <a:pPr algn="ctr" marL="0" indent="0" lvl="0">
              <a:lnSpc>
                <a:spcPts val="6738"/>
              </a:lnSpc>
            </a:pPr>
            <a:r>
              <a:rPr lang="en-US" b="true" sz="7018" spc="-357">
                <a:solidFill>
                  <a:srgbClr val="FF914D"/>
                </a:solidFill>
                <a:latin typeface="Poppins Semi-Bold"/>
                <a:ea typeface="Poppins Semi-Bold"/>
                <a:cs typeface="Poppins Semi-Bold"/>
                <a:sym typeface="Poppins Semi-Bold"/>
              </a:rPr>
              <a:t>Automatic Embedding Fallback</a:t>
            </a:r>
          </a:p>
        </p:txBody>
      </p:sp>
      <p:sp>
        <p:nvSpPr>
          <p:cNvPr name="TextBox 6" id="6"/>
          <p:cNvSpPr txBox="true"/>
          <p:nvPr/>
        </p:nvSpPr>
        <p:spPr>
          <a:xfrm rot="0">
            <a:off x="11792179" y="1151478"/>
            <a:ext cx="927891" cy="207645"/>
          </a:xfrm>
          <a:prstGeom prst="rect">
            <a:avLst/>
          </a:prstGeom>
        </p:spPr>
        <p:txBody>
          <a:bodyPr anchor="t" rtlCol="false" tIns="0" lIns="0" bIns="0" rIns="0">
            <a:spAutoFit/>
          </a:bodyPr>
          <a:lstStyle/>
          <a:p>
            <a:pPr algn="ctr" marL="0" indent="0" lvl="0">
              <a:lnSpc>
                <a:spcPts val="1680"/>
              </a:lnSpc>
              <a:spcBef>
                <a:spcPct val="0"/>
              </a:spcBef>
            </a:pPr>
            <a:r>
              <a:rPr lang="en-US" sz="1200">
                <a:solidFill>
                  <a:srgbClr val="FFFFFF"/>
                </a:solidFill>
                <a:latin typeface="Poppins"/>
                <a:ea typeface="Poppins"/>
                <a:cs typeface="Poppins"/>
                <a:sym typeface="Poppins"/>
              </a:rPr>
              <a:t>Home</a:t>
            </a:r>
          </a:p>
        </p:txBody>
      </p:sp>
      <p:sp>
        <p:nvSpPr>
          <p:cNvPr name="TextBox 7" id="7"/>
          <p:cNvSpPr txBox="true"/>
          <p:nvPr/>
        </p:nvSpPr>
        <p:spPr>
          <a:xfrm rot="0">
            <a:off x="13824969" y="1151478"/>
            <a:ext cx="927891" cy="207645"/>
          </a:xfrm>
          <a:prstGeom prst="rect">
            <a:avLst/>
          </a:prstGeom>
        </p:spPr>
        <p:txBody>
          <a:bodyPr anchor="t" rtlCol="false" tIns="0" lIns="0" bIns="0" rIns="0">
            <a:spAutoFit/>
          </a:bodyPr>
          <a:lstStyle/>
          <a:p>
            <a:pPr algn="ctr" marL="0" indent="0" lvl="0">
              <a:lnSpc>
                <a:spcPts val="1680"/>
              </a:lnSpc>
              <a:spcBef>
                <a:spcPct val="0"/>
              </a:spcBef>
            </a:pPr>
            <a:r>
              <a:rPr lang="en-US" sz="1200">
                <a:solidFill>
                  <a:srgbClr val="FFFFFF"/>
                </a:solidFill>
                <a:latin typeface="Poppins"/>
                <a:ea typeface="Poppins"/>
                <a:cs typeface="Poppins"/>
                <a:sym typeface="Poppins"/>
              </a:rPr>
              <a:t>About</a:t>
            </a:r>
          </a:p>
        </p:txBody>
      </p:sp>
      <p:sp>
        <p:nvSpPr>
          <p:cNvPr name="TextBox 8" id="8"/>
          <p:cNvSpPr txBox="true"/>
          <p:nvPr/>
        </p:nvSpPr>
        <p:spPr>
          <a:xfrm rot="0">
            <a:off x="15689514" y="1151478"/>
            <a:ext cx="1441239" cy="207645"/>
          </a:xfrm>
          <a:prstGeom prst="rect">
            <a:avLst/>
          </a:prstGeom>
        </p:spPr>
        <p:txBody>
          <a:bodyPr anchor="t" rtlCol="false" tIns="0" lIns="0" bIns="0" rIns="0">
            <a:spAutoFit/>
          </a:bodyPr>
          <a:lstStyle/>
          <a:p>
            <a:pPr algn="ctr" marL="0" indent="0" lvl="0">
              <a:lnSpc>
                <a:spcPts val="1680"/>
              </a:lnSpc>
              <a:spcBef>
                <a:spcPct val="0"/>
              </a:spcBef>
            </a:pPr>
            <a:r>
              <a:rPr lang="en-US" sz="1200">
                <a:solidFill>
                  <a:srgbClr val="FF914D"/>
                </a:solidFill>
                <a:latin typeface="Poppins"/>
                <a:ea typeface="Poppins"/>
                <a:cs typeface="Poppins"/>
                <a:sym typeface="Poppins"/>
              </a:rPr>
              <a:t>Contact</a:t>
            </a:r>
          </a:p>
        </p:txBody>
      </p:sp>
      <p:sp>
        <p:nvSpPr>
          <p:cNvPr name="TextBox 9" id="9"/>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ML</a:t>
            </a:r>
          </a:p>
        </p:txBody>
      </p:sp>
      <p:grpSp>
        <p:nvGrpSpPr>
          <p:cNvPr name="Group 10" id="10"/>
          <p:cNvGrpSpPr/>
          <p:nvPr/>
        </p:nvGrpSpPr>
        <p:grpSpPr>
          <a:xfrm rot="0">
            <a:off x="-1044532" y="2342573"/>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2510509" y="5899302"/>
            <a:ext cx="5274088" cy="2581275"/>
          </a:xfrm>
          <a:prstGeom prst="rect">
            <a:avLst/>
          </a:prstGeom>
        </p:spPr>
        <p:txBody>
          <a:bodyPr anchor="t" rtlCol="false" tIns="0" lIns="0" bIns="0" rIns="0">
            <a:spAutoFit/>
          </a:bodyPr>
          <a:lstStyle/>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Fallback to Word2Vecexcept ImportError:</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from pyspark.ml.feature </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import Word2Vec</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w2v = Word2Vec(</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vectorSize=100,</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inputCol="words",</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outputCol="embeddings")</a:t>
            </a:r>
          </a:p>
          <a:p>
            <a:pPr algn="l" marL="0" indent="0" lvl="0">
              <a:lnSpc>
                <a:spcPts val="2550"/>
              </a:lnSpc>
              <a:spcBef>
                <a:spcPct val="0"/>
              </a:spcBef>
            </a:pPr>
            <a:r>
              <a:rPr lang="en-US" sz="1500" strike="noStrike" u="none">
                <a:solidFill>
                  <a:srgbClr val="FFFFFF">
                    <a:alpha val="71765"/>
                  </a:srgbClr>
                </a:solidFill>
                <a:latin typeface="Poppins"/>
                <a:ea typeface="Poppins"/>
                <a:cs typeface="Poppins"/>
                <a:sym typeface="Poppins"/>
              </a:rPr>
              <a:t>model = w2v.fit(df)</a:t>
            </a:r>
          </a:p>
        </p:txBody>
      </p:sp>
      <p:sp>
        <p:nvSpPr>
          <p:cNvPr name="TextBox 14" id="14"/>
          <p:cNvSpPr txBox="true"/>
          <p:nvPr/>
        </p:nvSpPr>
        <p:spPr>
          <a:xfrm rot="0">
            <a:off x="12573930" y="4784231"/>
            <a:ext cx="4060154" cy="282474"/>
          </a:xfrm>
          <a:prstGeom prst="rect">
            <a:avLst/>
          </a:prstGeom>
        </p:spPr>
        <p:txBody>
          <a:bodyPr anchor="t" rtlCol="false" tIns="0" lIns="0" bIns="0" rIns="0">
            <a:spAutoFit/>
          </a:bodyPr>
          <a:lstStyle/>
          <a:p>
            <a:pPr algn="l" marL="0" indent="0" lvl="0">
              <a:lnSpc>
                <a:spcPts val="2280"/>
              </a:lnSpc>
            </a:pPr>
            <a:r>
              <a:rPr lang="en-US" b="true" sz="1628" spc="203">
                <a:solidFill>
                  <a:srgbClr val="FFFFFF"/>
                </a:solidFill>
                <a:latin typeface="Poppins Bold"/>
                <a:ea typeface="Poppins Bold"/>
                <a:cs typeface="Poppins Bold"/>
                <a:sym typeface="Poppins Bold"/>
              </a:rPr>
              <a:t>PYSPARK FALLBACK</a:t>
            </a:r>
          </a:p>
        </p:txBody>
      </p:sp>
      <p:sp>
        <p:nvSpPr>
          <p:cNvPr name="TextBox 15" id="15"/>
          <p:cNvSpPr txBox="true"/>
          <p:nvPr/>
        </p:nvSpPr>
        <p:spPr>
          <a:xfrm rot="0">
            <a:off x="538305" y="5588314"/>
            <a:ext cx="5420237" cy="2530475"/>
          </a:xfrm>
          <a:prstGeom prst="rect">
            <a:avLst/>
          </a:prstGeom>
        </p:spPr>
        <p:txBody>
          <a:bodyPr anchor="t" rtlCol="false" tIns="0" lIns="0" bIns="0" rIns="0">
            <a:spAutoFit/>
          </a:bodyPr>
          <a:lstStyle/>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try:</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from sentence_transformers </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import SentenceTransformer</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model = SentenceTransformer(</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'all-MiniLM-L6-v2')</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embeddings = model.encode(</a:t>
            </a:r>
          </a:p>
          <a:p>
            <a:pPr algn="r" marL="0" indent="0" lvl="0">
              <a:lnSpc>
                <a:spcPts val="2889"/>
              </a:lnSpc>
              <a:spcBef>
                <a:spcPct val="0"/>
              </a:spcBef>
            </a:pPr>
            <a:r>
              <a:rPr lang="en-US" sz="1699" strike="noStrike" u="none">
                <a:solidFill>
                  <a:srgbClr val="FFFFFF">
                    <a:alpha val="71765"/>
                  </a:srgbClr>
                </a:solidFill>
                <a:latin typeface="Poppins"/>
                <a:ea typeface="Poppins"/>
                <a:cs typeface="Poppins"/>
                <a:sym typeface="Poppins"/>
              </a:rPr>
              <a:t>texts, batch_size=32)</a:t>
            </a:r>
          </a:p>
        </p:txBody>
      </p:sp>
      <p:sp>
        <p:nvSpPr>
          <p:cNvPr name="TextBox 16" id="16"/>
          <p:cNvSpPr txBox="true"/>
          <p:nvPr/>
        </p:nvSpPr>
        <p:spPr>
          <a:xfrm rot="0">
            <a:off x="2138562" y="4784231"/>
            <a:ext cx="3689669" cy="282474"/>
          </a:xfrm>
          <a:prstGeom prst="rect">
            <a:avLst/>
          </a:prstGeom>
        </p:spPr>
        <p:txBody>
          <a:bodyPr anchor="t" rtlCol="false" tIns="0" lIns="0" bIns="0" rIns="0">
            <a:spAutoFit/>
          </a:bodyPr>
          <a:lstStyle/>
          <a:p>
            <a:pPr algn="r" marL="0" indent="0" lvl="0">
              <a:lnSpc>
                <a:spcPts val="2280"/>
              </a:lnSpc>
            </a:pPr>
            <a:r>
              <a:rPr lang="en-US" b="true" sz="1628" spc="203">
                <a:solidFill>
                  <a:srgbClr val="FFFFFF"/>
                </a:solidFill>
                <a:latin typeface="Poppins Bold"/>
                <a:ea typeface="Poppins Bold"/>
                <a:cs typeface="Poppins Bold"/>
                <a:sym typeface="Poppins Bold"/>
              </a:rPr>
              <a:t>PRIMARY METHOD</a:t>
            </a:r>
          </a:p>
        </p:txBody>
      </p:sp>
      <p:grpSp>
        <p:nvGrpSpPr>
          <p:cNvPr name="Group 17" id="17"/>
          <p:cNvGrpSpPr/>
          <p:nvPr/>
        </p:nvGrpSpPr>
        <p:grpSpPr>
          <a:xfrm rot="0">
            <a:off x="4912110" y="6639237"/>
            <a:ext cx="8463780" cy="84637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5493" t="-38064" r="-51732" b="0"/>
              </a:stretch>
            </a:blipFill>
            <a:ln w="161925" cap="sq">
              <a:solidFill>
                <a:srgbClr val="FF914D"/>
              </a:solidFill>
              <a:prstDash val="solid"/>
              <a:miter/>
            </a:ln>
          </p:spPr>
        </p:sp>
      </p:grpSp>
      <p:grpSp>
        <p:nvGrpSpPr>
          <p:cNvPr name="Group 19" id="19"/>
          <p:cNvGrpSpPr/>
          <p:nvPr/>
        </p:nvGrpSpPr>
        <p:grpSpPr>
          <a:xfrm rot="0">
            <a:off x="17259300" y="8197936"/>
            <a:ext cx="2089064" cy="20890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1" id="21"/>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7472739" y="4517362"/>
            <a:ext cx="3342521" cy="975933"/>
          </a:xfrm>
          <a:prstGeom prst="rect">
            <a:avLst/>
          </a:prstGeom>
        </p:spPr>
        <p:txBody>
          <a:bodyPr anchor="t" rtlCol="false" tIns="0" lIns="0" bIns="0" rIns="0">
            <a:spAutoFit/>
          </a:bodyPr>
          <a:lstStyle/>
          <a:p>
            <a:pPr algn="ctr" marL="0" indent="0" lvl="0">
              <a:lnSpc>
                <a:spcPts val="6738"/>
              </a:lnSpc>
            </a:pPr>
            <a:r>
              <a:rPr lang="en-US" b="true" sz="7018" spc="-357">
                <a:solidFill>
                  <a:srgbClr val="FF914D"/>
                </a:solidFill>
                <a:latin typeface="Poppins Semi-Bold"/>
                <a:ea typeface="Poppins Semi-Bold"/>
                <a:cs typeface="Poppins Semi-Bold"/>
                <a:sym typeface="Poppins Semi-Bold"/>
              </a:rPr>
              <a:t>Listing 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542751" y="2310276"/>
            <a:ext cx="8564984" cy="2202523"/>
          </a:xfrm>
          <a:prstGeom prst="rect">
            <a:avLst/>
          </a:prstGeom>
        </p:spPr>
        <p:txBody>
          <a:bodyPr anchor="t" rtlCol="false" tIns="0" lIns="0" bIns="0" rIns="0">
            <a:spAutoFit/>
          </a:bodyPr>
          <a:lstStyle/>
          <a:p>
            <a:pPr algn="l" marL="0" indent="0" lvl="0">
              <a:lnSpc>
                <a:spcPts val="8135"/>
              </a:lnSpc>
            </a:pPr>
            <a:r>
              <a:rPr lang="en-US" b="true" sz="8474" spc="-432">
                <a:solidFill>
                  <a:srgbClr val="FF914D"/>
                </a:solidFill>
                <a:latin typeface="Poppins Semi-Bold"/>
                <a:ea typeface="Poppins Semi-Bold"/>
                <a:cs typeface="Poppins Semi-Bold"/>
                <a:sym typeface="Poppins Semi-Bold"/>
              </a:rPr>
              <a:t>Models Trained &amp; Approach</a:t>
            </a:r>
          </a:p>
        </p:txBody>
      </p:sp>
      <p:sp>
        <p:nvSpPr>
          <p:cNvPr name="TextBox 6" id="6"/>
          <p:cNvSpPr txBox="true"/>
          <p:nvPr/>
        </p:nvSpPr>
        <p:spPr>
          <a:xfrm rot="0">
            <a:off x="9144000" y="6468676"/>
            <a:ext cx="7720619" cy="612593"/>
          </a:xfrm>
          <a:prstGeom prst="rect">
            <a:avLst/>
          </a:prstGeom>
        </p:spPr>
        <p:txBody>
          <a:bodyPr anchor="t" rtlCol="false" tIns="0" lIns="0" bIns="0" rIns="0">
            <a:spAutoFit/>
          </a:bodyPr>
          <a:lstStyle/>
          <a:p>
            <a:pPr algn="l" marL="0" indent="0" lvl="0">
              <a:lnSpc>
                <a:spcPts val="2460"/>
              </a:lnSpc>
            </a:pPr>
            <a:r>
              <a:rPr lang="en-US" b="true" sz="1757" spc="219">
                <a:solidFill>
                  <a:srgbClr val="FFFFFF"/>
                </a:solidFill>
                <a:latin typeface="Poppins Bold"/>
                <a:ea typeface="Poppins Bold"/>
                <a:cs typeface="Poppins Bold"/>
                <a:sym typeface="Poppins Bold"/>
              </a:rPr>
              <a:t>OVERVIEW OF CLASSIFIERS AND TRAINING METHODOLOGY</a:t>
            </a:r>
          </a:p>
        </p:txBody>
      </p:sp>
      <p:sp>
        <p:nvSpPr>
          <p:cNvPr name="TextBox 7" id="7"/>
          <p:cNvSpPr txBox="true"/>
          <p:nvPr/>
        </p:nvSpPr>
        <p:spPr>
          <a:xfrm rot="0">
            <a:off x="11792179" y="1132428"/>
            <a:ext cx="927891"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FFFF"/>
                </a:solidFill>
                <a:latin typeface="Poppins"/>
                <a:ea typeface="Poppins"/>
                <a:cs typeface="Poppins"/>
                <a:sym typeface="Poppins"/>
              </a:rPr>
              <a:t>Home</a:t>
            </a:r>
          </a:p>
        </p:txBody>
      </p:sp>
      <p:sp>
        <p:nvSpPr>
          <p:cNvPr name="TextBox 8" id="8"/>
          <p:cNvSpPr txBox="true"/>
          <p:nvPr/>
        </p:nvSpPr>
        <p:spPr>
          <a:xfrm rot="0">
            <a:off x="13824969" y="1132428"/>
            <a:ext cx="927891"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FFFF"/>
                </a:solidFill>
                <a:latin typeface="Poppins"/>
                <a:ea typeface="Poppins"/>
                <a:cs typeface="Poppins"/>
                <a:sym typeface="Poppins"/>
              </a:rPr>
              <a:t>About</a:t>
            </a:r>
          </a:p>
        </p:txBody>
      </p:sp>
      <p:sp>
        <p:nvSpPr>
          <p:cNvPr name="TextBox 9" id="9"/>
          <p:cNvSpPr txBox="true"/>
          <p:nvPr/>
        </p:nvSpPr>
        <p:spPr>
          <a:xfrm rot="0">
            <a:off x="15689514" y="1132428"/>
            <a:ext cx="1441239" cy="259136"/>
          </a:xfrm>
          <a:prstGeom prst="rect">
            <a:avLst/>
          </a:prstGeom>
        </p:spPr>
        <p:txBody>
          <a:bodyPr anchor="t" rtlCol="false" tIns="0" lIns="0" bIns="0" rIns="0">
            <a:spAutoFit/>
          </a:bodyPr>
          <a:lstStyle/>
          <a:p>
            <a:pPr algn="ctr" marL="0" indent="0" lvl="0">
              <a:lnSpc>
                <a:spcPts val="1991"/>
              </a:lnSpc>
              <a:spcBef>
                <a:spcPct val="0"/>
              </a:spcBef>
            </a:pPr>
            <a:r>
              <a:rPr lang="en-US" sz="1422">
                <a:solidFill>
                  <a:srgbClr val="FF914D"/>
                </a:solidFill>
                <a:latin typeface="Poppins"/>
                <a:ea typeface="Poppins"/>
                <a:cs typeface="Poppins"/>
                <a:sym typeface="Poppins"/>
              </a:rPr>
              <a:t>Contact</a:t>
            </a:r>
          </a:p>
        </p:txBody>
      </p:sp>
      <p:sp>
        <p:nvSpPr>
          <p:cNvPr name="TextBox 10" id="10"/>
          <p:cNvSpPr txBox="true"/>
          <p:nvPr/>
        </p:nvSpPr>
        <p:spPr>
          <a:xfrm rot="0">
            <a:off x="1028700" y="1066800"/>
            <a:ext cx="2219723" cy="369086"/>
          </a:xfrm>
          <a:prstGeom prst="rect">
            <a:avLst/>
          </a:prstGeom>
        </p:spPr>
        <p:txBody>
          <a:bodyPr anchor="t" rtlCol="false" tIns="0" lIns="0" bIns="0" rIns="0">
            <a:spAutoFit/>
          </a:bodyPr>
          <a:lstStyle/>
          <a:p>
            <a:pPr algn="l" marL="0" indent="0" lvl="0">
              <a:lnSpc>
                <a:spcPts val="2582"/>
              </a:lnSpc>
            </a:pPr>
            <a:r>
              <a:rPr lang="en-US" b="true" sz="2689" spc="-137">
                <a:solidFill>
                  <a:srgbClr val="FFFFFF"/>
                </a:solidFill>
                <a:latin typeface="Poppins Semi-Bold"/>
                <a:ea typeface="Poppins Semi-Bold"/>
                <a:cs typeface="Poppins Semi-Bold"/>
                <a:sym typeface="Poppins Semi-Bold"/>
              </a:rPr>
              <a:t>Yelp Analytics</a:t>
            </a:r>
          </a:p>
        </p:txBody>
      </p:sp>
      <p:sp>
        <p:nvSpPr>
          <p:cNvPr name="TextBox 11" id="11"/>
          <p:cNvSpPr txBox="true"/>
          <p:nvPr/>
        </p:nvSpPr>
        <p:spPr>
          <a:xfrm rot="0">
            <a:off x="9144000" y="7231105"/>
            <a:ext cx="7720619" cy="2322652"/>
          </a:xfrm>
          <a:prstGeom prst="rect">
            <a:avLst/>
          </a:prstGeom>
        </p:spPr>
        <p:txBody>
          <a:bodyPr anchor="t" rtlCol="false" tIns="0" lIns="0" bIns="0" rIns="0">
            <a:spAutoFit/>
          </a:bodyPr>
          <a:lstStyle/>
          <a:p>
            <a:pPr algn="l" marL="0" indent="0" lvl="0">
              <a:lnSpc>
                <a:spcPts val="3098"/>
              </a:lnSpc>
              <a:spcBef>
                <a:spcPct val="0"/>
              </a:spcBef>
            </a:pPr>
            <a:r>
              <a:rPr lang="en-US" sz="1822" strike="noStrike" u="none">
                <a:solidFill>
                  <a:srgbClr val="FFFFFF">
                    <a:alpha val="71765"/>
                  </a:srgbClr>
                </a:solidFill>
                <a:latin typeface="Poppins"/>
                <a:ea typeface="Poppins"/>
                <a:cs typeface="Poppins"/>
                <a:sym typeface="Poppins"/>
              </a:rPr>
              <a:t>Three classification models trained using Apache Spark distributed processing: Logistic Regression for baseline performance, Random Forest with 100 decision trees for ensemble learning, and Gradient Boosted Trees (GBT) with hyperparameter tuning for optimal accuracy. Train-test split ensures generalization.</a:t>
            </a:r>
          </a:p>
        </p:txBody>
      </p:sp>
      <p:grpSp>
        <p:nvGrpSpPr>
          <p:cNvPr name="Group 12" id="12"/>
          <p:cNvGrpSpPr/>
          <p:nvPr/>
        </p:nvGrpSpPr>
        <p:grpSpPr>
          <a:xfrm rot="0">
            <a:off x="1280346" y="6055392"/>
            <a:ext cx="6992698" cy="4582719"/>
            <a:chOff x="0" y="0"/>
            <a:chExt cx="1124819" cy="737159"/>
          </a:xfrm>
        </p:grpSpPr>
        <p:sp>
          <p:nvSpPr>
            <p:cNvPr name="Freeform 13" id="13"/>
            <p:cNvSpPr/>
            <p:nvPr/>
          </p:nvSpPr>
          <p:spPr>
            <a:xfrm flipH="false" flipV="false" rot="0">
              <a:off x="0" y="0"/>
              <a:ext cx="1124819" cy="737159"/>
            </a:xfrm>
            <a:custGeom>
              <a:avLst/>
              <a:gdLst/>
              <a:ahLst/>
              <a:cxnLst/>
              <a:rect r="r" b="b" t="t" l="l"/>
              <a:pathLst>
                <a:path h="737159" w="1124819">
                  <a:moveTo>
                    <a:pt x="25464" y="0"/>
                  </a:moveTo>
                  <a:lnTo>
                    <a:pt x="1099355" y="0"/>
                  </a:lnTo>
                  <a:cubicBezTo>
                    <a:pt x="1113418" y="0"/>
                    <a:pt x="1124819" y="11401"/>
                    <a:pt x="1124819" y="25464"/>
                  </a:cubicBezTo>
                  <a:lnTo>
                    <a:pt x="1124819" y="711695"/>
                  </a:lnTo>
                  <a:cubicBezTo>
                    <a:pt x="1124819" y="725758"/>
                    <a:pt x="1113418" y="737159"/>
                    <a:pt x="1099355" y="737159"/>
                  </a:cubicBezTo>
                  <a:lnTo>
                    <a:pt x="25464" y="737159"/>
                  </a:lnTo>
                  <a:cubicBezTo>
                    <a:pt x="11401" y="737159"/>
                    <a:pt x="0" y="725758"/>
                    <a:pt x="0" y="711695"/>
                  </a:cubicBezTo>
                  <a:lnTo>
                    <a:pt x="0" y="25464"/>
                  </a:lnTo>
                  <a:cubicBezTo>
                    <a:pt x="0" y="11401"/>
                    <a:pt x="11401" y="0"/>
                    <a:pt x="25464" y="0"/>
                  </a:cubicBezTo>
                  <a:close/>
                </a:path>
              </a:pathLst>
            </a:custGeom>
            <a:blipFill>
              <a:blip r:embed="rId2"/>
              <a:stretch>
                <a:fillRect l="0" t="-1403" r="0" b="-1403"/>
              </a:stretch>
            </a:blipFill>
            <a:ln w="123825" cap="rnd">
              <a:solidFill>
                <a:srgbClr val="FF914D"/>
              </a:solidFill>
              <a:prstDash val="solid"/>
              <a:round/>
            </a:ln>
          </p:spPr>
        </p:sp>
      </p:grpSp>
      <p:grpSp>
        <p:nvGrpSpPr>
          <p:cNvPr name="Group 14" id="14"/>
          <p:cNvGrpSpPr/>
          <p:nvPr/>
        </p:nvGrpSpPr>
        <p:grpSpPr>
          <a:xfrm rot="0">
            <a:off x="9637764" y="2366273"/>
            <a:ext cx="7621536" cy="3265400"/>
            <a:chOff x="0" y="0"/>
            <a:chExt cx="1720550" cy="737159"/>
          </a:xfrm>
        </p:grpSpPr>
        <p:sp>
          <p:nvSpPr>
            <p:cNvPr name="Freeform 15" id="15"/>
            <p:cNvSpPr/>
            <p:nvPr/>
          </p:nvSpPr>
          <p:spPr>
            <a:xfrm flipH="false" flipV="false" rot="0">
              <a:off x="0" y="0"/>
              <a:ext cx="1720550" cy="737159"/>
            </a:xfrm>
            <a:custGeom>
              <a:avLst/>
              <a:gdLst/>
              <a:ahLst/>
              <a:cxnLst/>
              <a:rect r="r" b="b" t="t" l="l"/>
              <a:pathLst>
                <a:path h="737159" w="1720550">
                  <a:moveTo>
                    <a:pt x="23363" y="0"/>
                  </a:moveTo>
                  <a:lnTo>
                    <a:pt x="1697187" y="0"/>
                  </a:lnTo>
                  <a:cubicBezTo>
                    <a:pt x="1703383" y="0"/>
                    <a:pt x="1709325" y="2461"/>
                    <a:pt x="1713707" y="6843"/>
                  </a:cubicBezTo>
                  <a:cubicBezTo>
                    <a:pt x="1718088" y="11224"/>
                    <a:pt x="1720550" y="17167"/>
                    <a:pt x="1720550" y="23363"/>
                  </a:cubicBezTo>
                  <a:lnTo>
                    <a:pt x="1720550" y="713796"/>
                  </a:lnTo>
                  <a:cubicBezTo>
                    <a:pt x="1720550" y="726699"/>
                    <a:pt x="1710090" y="737159"/>
                    <a:pt x="1697187" y="737159"/>
                  </a:cubicBezTo>
                  <a:lnTo>
                    <a:pt x="23363" y="737159"/>
                  </a:lnTo>
                  <a:cubicBezTo>
                    <a:pt x="10460" y="737159"/>
                    <a:pt x="0" y="726699"/>
                    <a:pt x="0" y="713796"/>
                  </a:cubicBezTo>
                  <a:lnTo>
                    <a:pt x="0" y="23363"/>
                  </a:lnTo>
                  <a:cubicBezTo>
                    <a:pt x="0" y="10460"/>
                    <a:pt x="10460" y="0"/>
                    <a:pt x="23363" y="0"/>
                  </a:cubicBezTo>
                  <a:close/>
                </a:path>
              </a:pathLst>
            </a:custGeom>
            <a:blipFill>
              <a:blip r:embed="rId3"/>
              <a:stretch>
                <a:fillRect l="0" t="-16519" r="0" b="-16519"/>
              </a:stretch>
            </a:blipFill>
            <a:ln w="123825" cap="rnd">
              <a:solidFill>
                <a:srgbClr val="FF914D"/>
              </a:solidFill>
              <a:prstDash val="solid"/>
              <a:round/>
            </a:ln>
          </p:spPr>
        </p:sp>
      </p:grpSp>
      <p:grpSp>
        <p:nvGrpSpPr>
          <p:cNvPr name="Group 16" id="16"/>
          <p:cNvGrpSpPr/>
          <p:nvPr/>
        </p:nvGrpSpPr>
        <p:grpSpPr>
          <a:xfrm rot="0">
            <a:off x="16989895" y="9111221"/>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8847438" y="3350736"/>
            <a:ext cx="8642522" cy="1939465"/>
          </a:xfrm>
          <a:prstGeom prst="rect">
            <a:avLst/>
          </a:prstGeom>
        </p:spPr>
        <p:txBody>
          <a:bodyPr anchor="t" rtlCol="false" tIns="0" lIns="0" bIns="0" rIns="0">
            <a:spAutoFit/>
          </a:bodyPr>
          <a:lstStyle/>
          <a:p>
            <a:pPr algn="l" marL="0" indent="0" lvl="0">
              <a:lnSpc>
                <a:spcPts val="7167"/>
              </a:lnSpc>
            </a:pPr>
            <a:r>
              <a:rPr lang="en-US" b="true" sz="7466" spc="-380">
                <a:solidFill>
                  <a:srgbClr val="FF914D"/>
                </a:solidFill>
                <a:latin typeface="Poppins Semi-Bold"/>
                <a:ea typeface="Poppins Semi-Bold"/>
                <a:cs typeface="Poppins Semi-Bold"/>
                <a:sym typeface="Poppins Semi-Bold"/>
              </a:rPr>
              <a:t>Model Performance Overview</a:t>
            </a:r>
          </a:p>
        </p:txBody>
      </p:sp>
      <p:sp>
        <p:nvSpPr>
          <p:cNvPr name="TextBox 6" id="6"/>
          <p:cNvSpPr txBox="true"/>
          <p:nvPr/>
        </p:nvSpPr>
        <p:spPr>
          <a:xfrm rot="0">
            <a:off x="8847438" y="6171516"/>
            <a:ext cx="8411862" cy="333639"/>
          </a:xfrm>
          <a:prstGeom prst="rect">
            <a:avLst/>
          </a:prstGeom>
        </p:spPr>
        <p:txBody>
          <a:bodyPr anchor="t" rtlCol="false" tIns="0" lIns="0" bIns="0" rIns="0">
            <a:spAutoFit/>
          </a:bodyPr>
          <a:lstStyle/>
          <a:p>
            <a:pPr algn="l" marL="0" indent="0" lvl="0">
              <a:lnSpc>
                <a:spcPts val="2610"/>
              </a:lnSpc>
            </a:pPr>
            <a:r>
              <a:rPr lang="en-US" b="true" sz="1864" spc="233">
                <a:solidFill>
                  <a:srgbClr val="FFFFFF"/>
                </a:solidFill>
                <a:latin typeface="Poppins Bold"/>
                <a:ea typeface="Poppins Bold"/>
                <a:cs typeface="Poppins Bold"/>
                <a:sym typeface="Poppins Bold"/>
              </a:rPr>
              <a:t>GBT CLASSIFIER ACHIEVES BEST OVERALL PERFORMANCE</a:t>
            </a:r>
          </a:p>
        </p:txBody>
      </p:sp>
      <p:sp>
        <p:nvSpPr>
          <p:cNvPr name="TextBox 7" id="7"/>
          <p:cNvSpPr txBox="true"/>
          <p:nvPr/>
        </p:nvSpPr>
        <p:spPr>
          <a:xfrm rot="0">
            <a:off x="11792179" y="1132428"/>
            <a:ext cx="927891" cy="315706"/>
          </a:xfrm>
          <a:prstGeom prst="rect">
            <a:avLst/>
          </a:prstGeom>
        </p:spPr>
        <p:txBody>
          <a:bodyPr anchor="t" rtlCol="false" tIns="0" lIns="0" bIns="0" rIns="0">
            <a:spAutoFit/>
          </a:bodyPr>
          <a:lstStyle/>
          <a:p>
            <a:pPr algn="ctr" marL="0" indent="0" lvl="0">
              <a:lnSpc>
                <a:spcPts val="2548"/>
              </a:lnSpc>
              <a:spcBef>
                <a:spcPct val="0"/>
              </a:spcBef>
            </a:pPr>
            <a:r>
              <a:rPr lang="en-US" sz="1820">
                <a:solidFill>
                  <a:srgbClr val="FFFFFF"/>
                </a:solidFill>
                <a:latin typeface="Poppins"/>
                <a:ea typeface="Poppins"/>
                <a:cs typeface="Poppins"/>
                <a:sym typeface="Poppins"/>
              </a:rPr>
              <a:t>Home</a:t>
            </a:r>
          </a:p>
        </p:txBody>
      </p:sp>
      <p:sp>
        <p:nvSpPr>
          <p:cNvPr name="TextBox 8" id="8"/>
          <p:cNvSpPr txBox="true"/>
          <p:nvPr/>
        </p:nvSpPr>
        <p:spPr>
          <a:xfrm rot="0">
            <a:off x="13824969" y="1132428"/>
            <a:ext cx="927891" cy="315706"/>
          </a:xfrm>
          <a:prstGeom prst="rect">
            <a:avLst/>
          </a:prstGeom>
        </p:spPr>
        <p:txBody>
          <a:bodyPr anchor="t" rtlCol="false" tIns="0" lIns="0" bIns="0" rIns="0">
            <a:spAutoFit/>
          </a:bodyPr>
          <a:lstStyle/>
          <a:p>
            <a:pPr algn="ctr" marL="0" indent="0" lvl="0">
              <a:lnSpc>
                <a:spcPts val="2548"/>
              </a:lnSpc>
              <a:spcBef>
                <a:spcPct val="0"/>
              </a:spcBef>
            </a:pPr>
            <a:r>
              <a:rPr lang="en-US" sz="1820">
                <a:solidFill>
                  <a:srgbClr val="FFFFFF"/>
                </a:solidFill>
                <a:latin typeface="Poppins"/>
                <a:ea typeface="Poppins"/>
                <a:cs typeface="Poppins"/>
                <a:sym typeface="Poppins"/>
              </a:rPr>
              <a:t>About</a:t>
            </a:r>
          </a:p>
        </p:txBody>
      </p:sp>
      <p:sp>
        <p:nvSpPr>
          <p:cNvPr name="TextBox 9" id="9"/>
          <p:cNvSpPr txBox="true"/>
          <p:nvPr/>
        </p:nvSpPr>
        <p:spPr>
          <a:xfrm rot="0">
            <a:off x="15689514" y="1132428"/>
            <a:ext cx="1441239" cy="315706"/>
          </a:xfrm>
          <a:prstGeom prst="rect">
            <a:avLst/>
          </a:prstGeom>
        </p:spPr>
        <p:txBody>
          <a:bodyPr anchor="t" rtlCol="false" tIns="0" lIns="0" bIns="0" rIns="0">
            <a:spAutoFit/>
          </a:bodyPr>
          <a:lstStyle/>
          <a:p>
            <a:pPr algn="ctr" marL="0" indent="0" lvl="0">
              <a:lnSpc>
                <a:spcPts val="2548"/>
              </a:lnSpc>
              <a:spcBef>
                <a:spcPct val="0"/>
              </a:spcBef>
            </a:pPr>
            <a:r>
              <a:rPr lang="en-US" sz="1820">
                <a:solidFill>
                  <a:srgbClr val="FF914D"/>
                </a:solidFill>
                <a:latin typeface="Poppins"/>
                <a:ea typeface="Poppins"/>
                <a:cs typeface="Poppins"/>
                <a:sym typeface="Poppins"/>
              </a:rPr>
              <a:t>Contact</a:t>
            </a:r>
          </a:p>
        </p:txBody>
      </p:sp>
      <p:sp>
        <p:nvSpPr>
          <p:cNvPr name="TextBox 10" id="10"/>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ML</a:t>
            </a:r>
          </a:p>
        </p:txBody>
      </p:sp>
      <p:sp>
        <p:nvSpPr>
          <p:cNvPr name="TextBox 11" id="11"/>
          <p:cNvSpPr txBox="true"/>
          <p:nvPr/>
        </p:nvSpPr>
        <p:spPr>
          <a:xfrm rot="0">
            <a:off x="8847438" y="6924419"/>
            <a:ext cx="7720619" cy="1700491"/>
          </a:xfrm>
          <a:prstGeom prst="rect">
            <a:avLst/>
          </a:prstGeom>
        </p:spPr>
        <p:txBody>
          <a:bodyPr anchor="t" rtlCol="false" tIns="0" lIns="0" bIns="0" rIns="0">
            <a:spAutoFit/>
          </a:bodyPr>
          <a:lstStyle/>
          <a:p>
            <a:pPr algn="l" marL="0" indent="0" lvl="0">
              <a:lnSpc>
                <a:spcPts val="3435"/>
              </a:lnSpc>
              <a:spcBef>
                <a:spcPct val="0"/>
              </a:spcBef>
            </a:pPr>
            <a:r>
              <a:rPr lang="en-US" sz="2020" strike="noStrike" u="none">
                <a:solidFill>
                  <a:srgbClr val="FFFFFF">
                    <a:alpha val="71765"/>
                  </a:srgbClr>
                </a:solidFill>
                <a:latin typeface="Poppins"/>
                <a:ea typeface="Poppins"/>
                <a:cs typeface="Poppins"/>
                <a:sym typeface="Poppins"/>
              </a:rPr>
              <a:t>Gradient Boosted Trees delivers strong generalization with AUC-ROC of 0.874 and accuracy of 0.811. The train-test gap of only 0.028 indicates excellent model stability without overfitting.</a:t>
            </a:r>
          </a:p>
        </p:txBody>
      </p:sp>
      <p:grpSp>
        <p:nvGrpSpPr>
          <p:cNvPr name="Group 12" id="12"/>
          <p:cNvGrpSpPr/>
          <p:nvPr/>
        </p:nvGrpSpPr>
        <p:grpSpPr>
          <a:xfrm rot="0">
            <a:off x="16989895" y="9111221"/>
            <a:ext cx="2089064" cy="208906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4" id="14"/>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pic>
        <p:nvPicPr>
          <p:cNvPr name="Picture 15" id="15"/>
          <p:cNvPicPr>
            <a:picLocks noChangeAspect="true"/>
          </p:cNvPicPr>
          <p:nvPr/>
        </p:nvPicPr>
        <p:blipFill>
          <a:blip r:embed="rId2"/>
          <a:stretch>
            <a:fillRect/>
          </a:stretch>
        </p:blipFill>
        <p:spPr>
          <a:xfrm rot="0">
            <a:off x="426691" y="1960636"/>
            <a:ext cx="8250254" cy="7472856"/>
          </a:xfrm>
          <a:prstGeom prst="rect">
            <a:avLst/>
          </a:prstGeom>
        </p:spPr>
      </p:pic>
      <p:grpSp>
        <p:nvGrpSpPr>
          <p:cNvPr name="Group 16" id="16"/>
          <p:cNvGrpSpPr/>
          <p:nvPr/>
        </p:nvGrpSpPr>
        <p:grpSpPr>
          <a:xfrm rot="0">
            <a:off x="5422248" y="-1060364"/>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542751" y="1987731"/>
            <a:ext cx="6413695" cy="4529601"/>
          </a:xfrm>
          <a:prstGeom prst="rect">
            <a:avLst/>
          </a:prstGeom>
        </p:spPr>
        <p:txBody>
          <a:bodyPr anchor="t" rtlCol="false" tIns="0" lIns="0" bIns="0" rIns="0">
            <a:spAutoFit/>
          </a:bodyPr>
          <a:lstStyle/>
          <a:p>
            <a:pPr algn="l" marL="0" indent="0" lvl="0">
              <a:lnSpc>
                <a:spcPts val="8630"/>
              </a:lnSpc>
            </a:pPr>
            <a:r>
              <a:rPr lang="en-US" b="true" sz="8990" spc="-458">
                <a:solidFill>
                  <a:srgbClr val="FF914D"/>
                </a:solidFill>
                <a:latin typeface="Poppins Semi-Bold"/>
                <a:ea typeface="Poppins Semi-Bold"/>
                <a:cs typeface="Poppins Semi-Bold"/>
                <a:sym typeface="Poppins Semi-Bold"/>
              </a:rPr>
              <a:t>Key Insight 1:</a:t>
            </a:r>
          </a:p>
          <a:p>
            <a:pPr algn="l" marL="0" indent="0" lvl="0">
              <a:lnSpc>
                <a:spcPts val="8630"/>
              </a:lnSpc>
            </a:pPr>
            <a:r>
              <a:rPr lang="en-US" b="true" sz="8990" spc="-458">
                <a:solidFill>
                  <a:srgbClr val="FF914D"/>
                </a:solidFill>
                <a:latin typeface="Poppins Semi-Bold"/>
                <a:ea typeface="Poppins Semi-Bold"/>
                <a:cs typeface="Poppins Semi-Bold"/>
                <a:sym typeface="Poppins Semi-Bold"/>
              </a:rPr>
              <a:t>Category Dominance</a:t>
            </a:r>
          </a:p>
        </p:txBody>
      </p:sp>
      <p:sp>
        <p:nvSpPr>
          <p:cNvPr name="TextBox 6" id="6"/>
          <p:cNvSpPr txBox="true"/>
          <p:nvPr/>
        </p:nvSpPr>
        <p:spPr>
          <a:xfrm rot="0">
            <a:off x="11792179" y="1141953"/>
            <a:ext cx="927891" cy="258338"/>
          </a:xfrm>
          <a:prstGeom prst="rect">
            <a:avLst/>
          </a:prstGeom>
        </p:spPr>
        <p:txBody>
          <a:bodyPr anchor="t" rtlCol="false" tIns="0" lIns="0" bIns="0" rIns="0">
            <a:spAutoFit/>
          </a:bodyPr>
          <a:lstStyle/>
          <a:p>
            <a:pPr algn="ctr" marL="0" indent="0" lvl="0">
              <a:lnSpc>
                <a:spcPts val="2035"/>
              </a:lnSpc>
              <a:spcBef>
                <a:spcPct val="0"/>
              </a:spcBef>
            </a:pPr>
            <a:r>
              <a:rPr lang="en-US" sz="1454">
                <a:solidFill>
                  <a:srgbClr val="FFFFFF"/>
                </a:solidFill>
                <a:latin typeface="Poppins"/>
                <a:ea typeface="Poppins"/>
                <a:cs typeface="Poppins"/>
                <a:sym typeface="Poppins"/>
              </a:rPr>
              <a:t>Home</a:t>
            </a:r>
          </a:p>
        </p:txBody>
      </p:sp>
      <p:sp>
        <p:nvSpPr>
          <p:cNvPr name="TextBox 7" id="7"/>
          <p:cNvSpPr txBox="true"/>
          <p:nvPr/>
        </p:nvSpPr>
        <p:spPr>
          <a:xfrm rot="0">
            <a:off x="13824969" y="1141953"/>
            <a:ext cx="927891" cy="258338"/>
          </a:xfrm>
          <a:prstGeom prst="rect">
            <a:avLst/>
          </a:prstGeom>
        </p:spPr>
        <p:txBody>
          <a:bodyPr anchor="t" rtlCol="false" tIns="0" lIns="0" bIns="0" rIns="0">
            <a:spAutoFit/>
          </a:bodyPr>
          <a:lstStyle/>
          <a:p>
            <a:pPr algn="ctr" marL="0" indent="0" lvl="0">
              <a:lnSpc>
                <a:spcPts val="2035"/>
              </a:lnSpc>
              <a:spcBef>
                <a:spcPct val="0"/>
              </a:spcBef>
            </a:pPr>
            <a:r>
              <a:rPr lang="en-US" sz="1454">
                <a:solidFill>
                  <a:srgbClr val="FFFFFF"/>
                </a:solidFill>
                <a:latin typeface="Poppins"/>
                <a:ea typeface="Poppins"/>
                <a:cs typeface="Poppins"/>
                <a:sym typeface="Poppins"/>
              </a:rPr>
              <a:t>About</a:t>
            </a:r>
          </a:p>
        </p:txBody>
      </p:sp>
      <p:sp>
        <p:nvSpPr>
          <p:cNvPr name="TextBox 8" id="8"/>
          <p:cNvSpPr txBox="true"/>
          <p:nvPr/>
        </p:nvSpPr>
        <p:spPr>
          <a:xfrm rot="0">
            <a:off x="15689514" y="1141953"/>
            <a:ext cx="1441239" cy="258338"/>
          </a:xfrm>
          <a:prstGeom prst="rect">
            <a:avLst/>
          </a:prstGeom>
        </p:spPr>
        <p:txBody>
          <a:bodyPr anchor="t" rtlCol="false" tIns="0" lIns="0" bIns="0" rIns="0">
            <a:spAutoFit/>
          </a:bodyPr>
          <a:lstStyle/>
          <a:p>
            <a:pPr algn="ctr" marL="0" indent="0" lvl="0">
              <a:lnSpc>
                <a:spcPts val="2035"/>
              </a:lnSpc>
              <a:spcBef>
                <a:spcPct val="0"/>
              </a:spcBef>
            </a:pPr>
            <a:r>
              <a:rPr lang="en-US" sz="1454">
                <a:solidFill>
                  <a:srgbClr val="FF914D"/>
                </a:solidFill>
                <a:latin typeface="Poppins"/>
                <a:ea typeface="Poppins"/>
                <a:cs typeface="Poppins"/>
                <a:sym typeface="Poppins"/>
              </a:rPr>
              <a:t>Contact</a:t>
            </a:r>
          </a:p>
        </p:txBody>
      </p:sp>
      <p:sp>
        <p:nvSpPr>
          <p:cNvPr name="TextBox 9" id="9"/>
          <p:cNvSpPr txBox="true"/>
          <p:nvPr/>
        </p:nvSpPr>
        <p:spPr>
          <a:xfrm rot="0">
            <a:off x="1028700" y="1066800"/>
            <a:ext cx="2219723" cy="369086"/>
          </a:xfrm>
          <a:prstGeom prst="rect">
            <a:avLst/>
          </a:prstGeom>
        </p:spPr>
        <p:txBody>
          <a:bodyPr anchor="t" rtlCol="false" tIns="0" lIns="0" bIns="0" rIns="0">
            <a:spAutoFit/>
          </a:bodyPr>
          <a:lstStyle/>
          <a:p>
            <a:pPr algn="l" marL="0" indent="0" lvl="0">
              <a:lnSpc>
                <a:spcPts val="2582"/>
              </a:lnSpc>
            </a:pPr>
            <a:r>
              <a:rPr lang="en-US" b="true" sz="2689" spc="-137">
                <a:solidFill>
                  <a:srgbClr val="FFFFFF"/>
                </a:solidFill>
                <a:latin typeface="Poppins Semi-Bold"/>
                <a:ea typeface="Poppins Semi-Bold"/>
                <a:cs typeface="Poppins Semi-Bold"/>
                <a:sym typeface="Poppins Semi-Bold"/>
              </a:rPr>
              <a:t>Yelp Analytics</a:t>
            </a:r>
          </a:p>
        </p:txBody>
      </p:sp>
      <p:grpSp>
        <p:nvGrpSpPr>
          <p:cNvPr name="Group 10" id="10"/>
          <p:cNvGrpSpPr/>
          <p:nvPr/>
        </p:nvGrpSpPr>
        <p:grpSpPr>
          <a:xfrm rot="0">
            <a:off x="17130753" y="2909467"/>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542751" y="7575550"/>
            <a:ext cx="7167772" cy="1841233"/>
          </a:xfrm>
          <a:prstGeom prst="rect">
            <a:avLst/>
          </a:prstGeom>
        </p:spPr>
        <p:txBody>
          <a:bodyPr anchor="t" rtlCol="false" tIns="0" lIns="0" bIns="0" rIns="0">
            <a:spAutoFit/>
          </a:bodyPr>
          <a:lstStyle/>
          <a:p>
            <a:pPr algn="l" marL="0" indent="0" lvl="0">
              <a:lnSpc>
                <a:spcPts val="2982"/>
              </a:lnSpc>
              <a:spcBef>
                <a:spcPct val="0"/>
              </a:spcBef>
            </a:pPr>
            <a:r>
              <a:rPr lang="en-US" sz="1754" strike="noStrike" u="none">
                <a:solidFill>
                  <a:srgbClr val="FFFFFF">
                    <a:alpha val="71765"/>
                  </a:srgbClr>
                </a:solidFill>
                <a:latin typeface="Poppins"/>
                <a:ea typeface="Poppins"/>
                <a:cs typeface="Poppins"/>
                <a:sym typeface="Poppins"/>
              </a:rPr>
              <a:t>Restaurants and Food businesses dominate the Yelp dataset, comprising over half of all analyzed businesses. This concentration reflects the platform's core user base and provides rich data for sentiment analysis in the hospitality sector.</a:t>
            </a:r>
          </a:p>
        </p:txBody>
      </p:sp>
      <p:sp>
        <p:nvSpPr>
          <p:cNvPr name="TextBox 14" id="14"/>
          <p:cNvSpPr txBox="true"/>
          <p:nvPr/>
        </p:nvSpPr>
        <p:spPr>
          <a:xfrm rot="0">
            <a:off x="1542751" y="6742893"/>
            <a:ext cx="5274088" cy="342536"/>
          </a:xfrm>
          <a:prstGeom prst="rect">
            <a:avLst/>
          </a:prstGeom>
        </p:spPr>
        <p:txBody>
          <a:bodyPr anchor="t" rtlCol="false" tIns="0" lIns="0" bIns="0" rIns="0">
            <a:spAutoFit/>
          </a:bodyPr>
          <a:lstStyle/>
          <a:p>
            <a:pPr algn="l" marL="0" indent="0" lvl="0">
              <a:lnSpc>
                <a:spcPts val="2645"/>
              </a:lnSpc>
            </a:pPr>
            <a:r>
              <a:rPr lang="en-US" b="true" sz="1889" spc="236">
                <a:solidFill>
                  <a:srgbClr val="FFFFFF"/>
                </a:solidFill>
                <a:latin typeface="Poppins Bold"/>
                <a:ea typeface="Poppins Bold"/>
                <a:cs typeface="Poppins Bold"/>
                <a:sym typeface="Poppins Bold"/>
              </a:rPr>
              <a:t>BUSINESS CATEGORY DISTRIBUTION</a:t>
            </a:r>
          </a:p>
        </p:txBody>
      </p:sp>
      <p:pic>
        <p:nvPicPr>
          <p:cNvPr name="Picture 15" id="15"/>
          <p:cNvPicPr>
            <a:picLocks noChangeAspect="true"/>
          </p:cNvPicPr>
          <p:nvPr/>
        </p:nvPicPr>
        <p:blipFill>
          <a:blip r:embed="rId2"/>
          <a:stretch>
            <a:fillRect/>
          </a:stretch>
        </p:blipFill>
        <p:spPr>
          <a:xfrm rot="0">
            <a:off x="7644399" y="1688229"/>
            <a:ext cx="9222792" cy="8414837"/>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8847438" y="3341211"/>
            <a:ext cx="8642522" cy="2630194"/>
          </a:xfrm>
          <a:prstGeom prst="rect">
            <a:avLst/>
          </a:prstGeom>
        </p:spPr>
        <p:txBody>
          <a:bodyPr anchor="t" rtlCol="false" tIns="0" lIns="0" bIns="0" rIns="0">
            <a:spAutoFit/>
          </a:bodyPr>
          <a:lstStyle/>
          <a:p>
            <a:pPr algn="l" marL="0" indent="0" lvl="0">
              <a:lnSpc>
                <a:spcPts val="6615"/>
              </a:lnSpc>
            </a:pPr>
            <a:r>
              <a:rPr lang="en-US" b="true" sz="6891" spc="-351">
                <a:solidFill>
                  <a:srgbClr val="FF914D"/>
                </a:solidFill>
                <a:latin typeface="Poppins Semi-Bold"/>
                <a:ea typeface="Poppins Semi-Bold"/>
                <a:cs typeface="Poppins Semi-Bold"/>
                <a:sym typeface="Poppins Semi-Bold"/>
              </a:rPr>
              <a:t>Key Insight 2 – Positivity Bias in Ratings</a:t>
            </a:r>
          </a:p>
        </p:txBody>
      </p:sp>
      <p:sp>
        <p:nvSpPr>
          <p:cNvPr name="TextBox 6" id="6"/>
          <p:cNvSpPr txBox="true"/>
          <p:nvPr/>
        </p:nvSpPr>
        <p:spPr>
          <a:xfrm rot="0">
            <a:off x="8847438" y="6181041"/>
            <a:ext cx="7720619" cy="349149"/>
          </a:xfrm>
          <a:prstGeom prst="rect">
            <a:avLst/>
          </a:prstGeom>
        </p:spPr>
        <p:txBody>
          <a:bodyPr anchor="t" rtlCol="false" tIns="0" lIns="0" bIns="0" rIns="0">
            <a:spAutoFit/>
          </a:bodyPr>
          <a:lstStyle/>
          <a:p>
            <a:pPr algn="l" marL="0" indent="0" lvl="0">
              <a:lnSpc>
                <a:spcPts val="2805"/>
              </a:lnSpc>
            </a:pPr>
            <a:r>
              <a:rPr lang="en-US" b="true" sz="2003" spc="250">
                <a:solidFill>
                  <a:srgbClr val="FFFFFF"/>
                </a:solidFill>
                <a:latin typeface="Poppins Bold"/>
                <a:ea typeface="Poppins Bold"/>
                <a:cs typeface="Poppins Bold"/>
                <a:sym typeface="Poppins Bold"/>
              </a:rPr>
              <a:t>STAR RATING DISTRIBUTION ANALYSIS</a:t>
            </a:r>
          </a:p>
        </p:txBody>
      </p:sp>
      <p:sp>
        <p:nvSpPr>
          <p:cNvPr name="TextBox 7" id="7"/>
          <p:cNvSpPr txBox="true"/>
          <p:nvPr/>
        </p:nvSpPr>
        <p:spPr>
          <a:xfrm rot="0">
            <a:off x="11792179" y="1122903"/>
            <a:ext cx="927891" cy="350350"/>
          </a:xfrm>
          <a:prstGeom prst="rect">
            <a:avLst/>
          </a:prstGeom>
        </p:spPr>
        <p:txBody>
          <a:bodyPr anchor="t" rtlCol="false" tIns="0" lIns="0" bIns="0" rIns="0">
            <a:spAutoFit/>
          </a:bodyPr>
          <a:lstStyle/>
          <a:p>
            <a:pPr algn="ctr" marL="0" indent="0" lvl="0">
              <a:lnSpc>
                <a:spcPts val="2739"/>
              </a:lnSpc>
              <a:spcBef>
                <a:spcPct val="0"/>
              </a:spcBef>
            </a:pPr>
            <a:r>
              <a:rPr lang="en-US" sz="1956">
                <a:solidFill>
                  <a:srgbClr val="FFFFFF"/>
                </a:solidFill>
                <a:latin typeface="Poppins"/>
                <a:ea typeface="Poppins"/>
                <a:cs typeface="Poppins"/>
                <a:sym typeface="Poppins"/>
              </a:rPr>
              <a:t>Home</a:t>
            </a:r>
          </a:p>
        </p:txBody>
      </p:sp>
      <p:sp>
        <p:nvSpPr>
          <p:cNvPr name="TextBox 8" id="8"/>
          <p:cNvSpPr txBox="true"/>
          <p:nvPr/>
        </p:nvSpPr>
        <p:spPr>
          <a:xfrm rot="0">
            <a:off x="13824969" y="1122903"/>
            <a:ext cx="927891" cy="350350"/>
          </a:xfrm>
          <a:prstGeom prst="rect">
            <a:avLst/>
          </a:prstGeom>
        </p:spPr>
        <p:txBody>
          <a:bodyPr anchor="t" rtlCol="false" tIns="0" lIns="0" bIns="0" rIns="0">
            <a:spAutoFit/>
          </a:bodyPr>
          <a:lstStyle/>
          <a:p>
            <a:pPr algn="ctr" marL="0" indent="0" lvl="0">
              <a:lnSpc>
                <a:spcPts val="2739"/>
              </a:lnSpc>
              <a:spcBef>
                <a:spcPct val="0"/>
              </a:spcBef>
            </a:pPr>
            <a:r>
              <a:rPr lang="en-US" sz="1956">
                <a:solidFill>
                  <a:srgbClr val="FFFFFF"/>
                </a:solidFill>
                <a:latin typeface="Poppins"/>
                <a:ea typeface="Poppins"/>
                <a:cs typeface="Poppins"/>
                <a:sym typeface="Poppins"/>
              </a:rPr>
              <a:t>About</a:t>
            </a:r>
          </a:p>
        </p:txBody>
      </p:sp>
      <p:sp>
        <p:nvSpPr>
          <p:cNvPr name="TextBox 9" id="9"/>
          <p:cNvSpPr txBox="true"/>
          <p:nvPr/>
        </p:nvSpPr>
        <p:spPr>
          <a:xfrm rot="0">
            <a:off x="15689514" y="1122903"/>
            <a:ext cx="1441239" cy="350350"/>
          </a:xfrm>
          <a:prstGeom prst="rect">
            <a:avLst/>
          </a:prstGeom>
        </p:spPr>
        <p:txBody>
          <a:bodyPr anchor="t" rtlCol="false" tIns="0" lIns="0" bIns="0" rIns="0">
            <a:spAutoFit/>
          </a:bodyPr>
          <a:lstStyle/>
          <a:p>
            <a:pPr algn="ctr" marL="0" indent="0" lvl="0">
              <a:lnSpc>
                <a:spcPts val="2739"/>
              </a:lnSpc>
              <a:spcBef>
                <a:spcPct val="0"/>
              </a:spcBef>
            </a:pPr>
            <a:r>
              <a:rPr lang="en-US" sz="1956">
                <a:solidFill>
                  <a:srgbClr val="FF914D"/>
                </a:solidFill>
                <a:latin typeface="Poppins"/>
                <a:ea typeface="Poppins"/>
                <a:cs typeface="Poppins"/>
                <a:sym typeface="Poppins"/>
              </a:rPr>
              <a:t>Contact</a:t>
            </a:r>
          </a:p>
        </p:txBody>
      </p:sp>
      <p:sp>
        <p:nvSpPr>
          <p:cNvPr name="TextBox 10" id="10"/>
          <p:cNvSpPr txBox="true"/>
          <p:nvPr/>
        </p:nvSpPr>
        <p:spPr>
          <a:xfrm rot="0">
            <a:off x="1028700" y="1076325"/>
            <a:ext cx="2219723" cy="982636"/>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Analytics</a:t>
            </a:r>
          </a:p>
        </p:txBody>
      </p:sp>
      <p:sp>
        <p:nvSpPr>
          <p:cNvPr name="TextBox 11" id="11"/>
          <p:cNvSpPr txBox="true"/>
          <p:nvPr/>
        </p:nvSpPr>
        <p:spPr>
          <a:xfrm rot="0">
            <a:off x="8847438" y="6924419"/>
            <a:ext cx="7720619" cy="1666448"/>
          </a:xfrm>
          <a:prstGeom prst="rect">
            <a:avLst/>
          </a:prstGeom>
        </p:spPr>
        <p:txBody>
          <a:bodyPr anchor="t" rtlCol="false" tIns="0" lIns="0" bIns="0" rIns="0">
            <a:spAutoFit/>
          </a:bodyPr>
          <a:lstStyle/>
          <a:p>
            <a:pPr algn="l" marL="0" indent="0" lvl="0">
              <a:lnSpc>
                <a:spcPts val="3326"/>
              </a:lnSpc>
              <a:spcBef>
                <a:spcPct val="0"/>
              </a:spcBef>
            </a:pPr>
            <a:r>
              <a:rPr lang="en-US" sz="1956" strike="noStrike" u="none">
                <a:solidFill>
                  <a:srgbClr val="FFFFFF">
                    <a:alpha val="71765"/>
                  </a:srgbClr>
                </a:solidFill>
                <a:latin typeface="Poppins"/>
                <a:ea typeface="Poppins"/>
                <a:cs typeface="Poppins"/>
                <a:sym typeface="Poppins"/>
              </a:rPr>
              <a:t>Yelp reviews exhibit a strong positive skew. The modal rating is 4.0 stars, with over 60% of all reviews rated 4 or 5 stars. This positivity bias impacts model training and requires careful class balancing.</a:t>
            </a:r>
          </a:p>
        </p:txBody>
      </p:sp>
      <p:grpSp>
        <p:nvGrpSpPr>
          <p:cNvPr name="Group 12" id="12"/>
          <p:cNvGrpSpPr/>
          <p:nvPr/>
        </p:nvGrpSpPr>
        <p:grpSpPr>
          <a:xfrm rot="0">
            <a:off x="16989895" y="9111221"/>
            <a:ext cx="2089064" cy="208906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4" id="14"/>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pic>
        <p:nvPicPr>
          <p:cNvPr name="Picture 15" id="15"/>
          <p:cNvPicPr>
            <a:picLocks noChangeAspect="true"/>
          </p:cNvPicPr>
          <p:nvPr/>
        </p:nvPicPr>
        <p:blipFill>
          <a:blip r:embed="rId2"/>
          <a:stretch>
            <a:fillRect/>
          </a:stretch>
        </p:blipFill>
        <p:spPr>
          <a:xfrm rot="0">
            <a:off x="426691" y="1960636"/>
            <a:ext cx="8250254" cy="7472856"/>
          </a:xfrm>
          <a:prstGeom prst="rect">
            <a:avLst/>
          </a:prstGeom>
        </p:spPr>
      </p:pic>
      <p:grpSp>
        <p:nvGrpSpPr>
          <p:cNvPr name="Group 16" id="16"/>
          <p:cNvGrpSpPr/>
          <p:nvPr/>
        </p:nvGrpSpPr>
        <p:grpSpPr>
          <a:xfrm rot="0">
            <a:off x="5422248" y="-1060364"/>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8847438" y="3379311"/>
            <a:ext cx="8642522" cy="2586228"/>
          </a:xfrm>
          <a:prstGeom prst="rect">
            <a:avLst/>
          </a:prstGeom>
        </p:spPr>
        <p:txBody>
          <a:bodyPr anchor="t" rtlCol="false" tIns="0" lIns="0" bIns="0" rIns="0">
            <a:spAutoFit/>
          </a:bodyPr>
          <a:lstStyle/>
          <a:p>
            <a:pPr algn="l" marL="0" indent="0" lvl="0">
              <a:lnSpc>
                <a:spcPts val="9574"/>
              </a:lnSpc>
            </a:pPr>
            <a:r>
              <a:rPr lang="en-US" b="true" sz="9973" spc="-508">
                <a:solidFill>
                  <a:srgbClr val="FF914D"/>
                </a:solidFill>
                <a:latin typeface="Poppins Semi-Bold"/>
                <a:ea typeface="Poppins Semi-Bold"/>
                <a:cs typeface="Poppins Semi-Bold"/>
                <a:sym typeface="Poppins Semi-Bold"/>
              </a:rPr>
              <a:t>Geographic Distribution</a:t>
            </a:r>
          </a:p>
        </p:txBody>
      </p:sp>
      <p:sp>
        <p:nvSpPr>
          <p:cNvPr name="TextBox 6" id="6"/>
          <p:cNvSpPr txBox="true"/>
          <p:nvPr/>
        </p:nvSpPr>
        <p:spPr>
          <a:xfrm rot="0">
            <a:off x="8847438" y="6171516"/>
            <a:ext cx="7720619" cy="367110"/>
          </a:xfrm>
          <a:prstGeom prst="rect">
            <a:avLst/>
          </a:prstGeom>
        </p:spPr>
        <p:txBody>
          <a:bodyPr anchor="t" rtlCol="false" tIns="0" lIns="0" bIns="0" rIns="0">
            <a:spAutoFit/>
          </a:bodyPr>
          <a:lstStyle/>
          <a:p>
            <a:pPr algn="l" marL="0" indent="0" lvl="0">
              <a:lnSpc>
                <a:spcPts val="2865"/>
              </a:lnSpc>
            </a:pPr>
            <a:r>
              <a:rPr lang="en-US" b="true" sz="2046" spc="255">
                <a:solidFill>
                  <a:srgbClr val="FFFFFF"/>
                </a:solidFill>
                <a:latin typeface="Poppins Bold"/>
                <a:ea typeface="Poppins Bold"/>
                <a:cs typeface="Poppins Bold"/>
                <a:sym typeface="Poppins Bold"/>
              </a:rPr>
              <a:t>TOP CITIES IN THE YELP DATASET</a:t>
            </a:r>
          </a:p>
        </p:txBody>
      </p:sp>
      <p:sp>
        <p:nvSpPr>
          <p:cNvPr name="TextBox 7" id="7"/>
          <p:cNvSpPr txBox="true"/>
          <p:nvPr/>
        </p:nvSpPr>
        <p:spPr>
          <a:xfrm rot="0">
            <a:off x="1179217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Home</a:t>
            </a:r>
          </a:p>
        </p:txBody>
      </p:sp>
      <p:sp>
        <p:nvSpPr>
          <p:cNvPr name="TextBox 8" id="8"/>
          <p:cNvSpPr txBox="true"/>
          <p:nvPr/>
        </p:nvSpPr>
        <p:spPr>
          <a:xfrm rot="0">
            <a:off x="1382496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About</a:t>
            </a:r>
          </a:p>
        </p:txBody>
      </p:sp>
      <p:sp>
        <p:nvSpPr>
          <p:cNvPr name="TextBox 9" id="9"/>
          <p:cNvSpPr txBox="true"/>
          <p:nvPr/>
        </p:nvSpPr>
        <p:spPr>
          <a:xfrm rot="0">
            <a:off x="15689514" y="1122903"/>
            <a:ext cx="1441239"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914D"/>
                </a:solidFill>
                <a:latin typeface="Poppins"/>
                <a:ea typeface="Poppins"/>
                <a:cs typeface="Poppins"/>
                <a:sym typeface="Poppins"/>
              </a:rPr>
              <a:t>Contact</a:t>
            </a:r>
          </a:p>
        </p:txBody>
      </p:sp>
      <p:sp>
        <p:nvSpPr>
          <p:cNvPr name="TextBox 10" id="10"/>
          <p:cNvSpPr txBox="true"/>
          <p:nvPr/>
        </p:nvSpPr>
        <p:spPr>
          <a:xfrm rot="0">
            <a:off x="1028700" y="1076325"/>
            <a:ext cx="2219723" cy="982636"/>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Analytics</a:t>
            </a:r>
          </a:p>
        </p:txBody>
      </p:sp>
      <p:sp>
        <p:nvSpPr>
          <p:cNvPr name="TextBox 11" id="11"/>
          <p:cNvSpPr txBox="true"/>
          <p:nvPr/>
        </p:nvSpPr>
        <p:spPr>
          <a:xfrm rot="0">
            <a:off x="8847438" y="6924419"/>
            <a:ext cx="7720619" cy="1273264"/>
          </a:xfrm>
          <a:prstGeom prst="rect">
            <a:avLst/>
          </a:prstGeom>
        </p:spPr>
        <p:txBody>
          <a:bodyPr anchor="t" rtlCol="false" tIns="0" lIns="0" bIns="0" rIns="0">
            <a:spAutoFit/>
          </a:bodyPr>
          <a:lstStyle/>
          <a:p>
            <a:pPr algn="l"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Philadelphia, Phoenix, and Las Vegas dominate the dataset, representing the highest concentration of businesses and reviews across all 11 analyzed cities.</a:t>
            </a:r>
          </a:p>
        </p:txBody>
      </p:sp>
      <p:grpSp>
        <p:nvGrpSpPr>
          <p:cNvPr name="Group 12" id="12"/>
          <p:cNvGrpSpPr/>
          <p:nvPr/>
        </p:nvGrpSpPr>
        <p:grpSpPr>
          <a:xfrm rot="0">
            <a:off x="16989895" y="9111221"/>
            <a:ext cx="2089064" cy="208906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4" id="14"/>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pic>
        <p:nvPicPr>
          <p:cNvPr name="Picture 15" id="15"/>
          <p:cNvPicPr>
            <a:picLocks noChangeAspect="true"/>
          </p:cNvPicPr>
          <p:nvPr/>
        </p:nvPicPr>
        <p:blipFill>
          <a:blip r:embed="rId2"/>
          <a:stretch>
            <a:fillRect/>
          </a:stretch>
        </p:blipFill>
        <p:spPr>
          <a:xfrm rot="0">
            <a:off x="426691" y="1960636"/>
            <a:ext cx="8250254" cy="7472856"/>
          </a:xfrm>
          <a:prstGeom prst="rect">
            <a:avLst/>
          </a:prstGeom>
        </p:spPr>
      </p:pic>
      <p:grpSp>
        <p:nvGrpSpPr>
          <p:cNvPr name="Group 16" id="16"/>
          <p:cNvGrpSpPr/>
          <p:nvPr/>
        </p:nvGrpSpPr>
        <p:grpSpPr>
          <a:xfrm rot="0">
            <a:off x="5422248" y="-1060364"/>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542751" y="2377069"/>
            <a:ext cx="8464138" cy="2597757"/>
          </a:xfrm>
          <a:prstGeom prst="rect">
            <a:avLst/>
          </a:prstGeom>
        </p:spPr>
        <p:txBody>
          <a:bodyPr anchor="t" rtlCol="false" tIns="0" lIns="0" bIns="0" rIns="0">
            <a:spAutoFit/>
          </a:bodyPr>
          <a:lstStyle/>
          <a:p>
            <a:pPr algn="l" marL="0" indent="0" lvl="0">
              <a:lnSpc>
                <a:spcPts val="9636"/>
              </a:lnSpc>
            </a:pPr>
            <a:r>
              <a:rPr lang="en-US" b="true" sz="10038" spc="-511">
                <a:solidFill>
                  <a:srgbClr val="FF914D"/>
                </a:solidFill>
                <a:latin typeface="Poppins Semi-Bold"/>
                <a:ea typeface="Poppins Semi-Bold"/>
                <a:cs typeface="Poppins Semi-Bold"/>
                <a:sym typeface="Poppins Semi-Bold"/>
              </a:rPr>
              <a:t>Review Length &amp; Polarity</a:t>
            </a:r>
          </a:p>
        </p:txBody>
      </p:sp>
      <p:sp>
        <p:nvSpPr>
          <p:cNvPr name="TextBox 6" id="6"/>
          <p:cNvSpPr txBox="true"/>
          <p:nvPr/>
        </p:nvSpPr>
        <p:spPr>
          <a:xfrm rot="0">
            <a:off x="11792179" y="1122903"/>
            <a:ext cx="927891" cy="342154"/>
          </a:xfrm>
          <a:prstGeom prst="rect">
            <a:avLst/>
          </a:prstGeom>
        </p:spPr>
        <p:txBody>
          <a:bodyPr anchor="t" rtlCol="false" tIns="0" lIns="0" bIns="0" rIns="0">
            <a:spAutoFit/>
          </a:bodyPr>
          <a:lstStyle/>
          <a:p>
            <a:pPr algn="ctr" marL="0" indent="0" lvl="0">
              <a:lnSpc>
                <a:spcPts val="2666"/>
              </a:lnSpc>
              <a:spcBef>
                <a:spcPct val="0"/>
              </a:spcBef>
            </a:pPr>
            <a:r>
              <a:rPr lang="en-US" sz="1904">
                <a:solidFill>
                  <a:srgbClr val="FFFFFF"/>
                </a:solidFill>
                <a:latin typeface="Poppins"/>
                <a:ea typeface="Poppins"/>
                <a:cs typeface="Poppins"/>
                <a:sym typeface="Poppins"/>
              </a:rPr>
              <a:t>Home</a:t>
            </a:r>
          </a:p>
        </p:txBody>
      </p:sp>
      <p:sp>
        <p:nvSpPr>
          <p:cNvPr name="TextBox 7" id="7"/>
          <p:cNvSpPr txBox="true"/>
          <p:nvPr/>
        </p:nvSpPr>
        <p:spPr>
          <a:xfrm rot="0">
            <a:off x="13824969" y="1122903"/>
            <a:ext cx="927891" cy="342154"/>
          </a:xfrm>
          <a:prstGeom prst="rect">
            <a:avLst/>
          </a:prstGeom>
        </p:spPr>
        <p:txBody>
          <a:bodyPr anchor="t" rtlCol="false" tIns="0" lIns="0" bIns="0" rIns="0">
            <a:spAutoFit/>
          </a:bodyPr>
          <a:lstStyle/>
          <a:p>
            <a:pPr algn="ctr" marL="0" indent="0" lvl="0">
              <a:lnSpc>
                <a:spcPts val="2666"/>
              </a:lnSpc>
              <a:spcBef>
                <a:spcPct val="0"/>
              </a:spcBef>
            </a:pPr>
            <a:r>
              <a:rPr lang="en-US" sz="1904">
                <a:solidFill>
                  <a:srgbClr val="FFFFFF"/>
                </a:solidFill>
                <a:latin typeface="Poppins"/>
                <a:ea typeface="Poppins"/>
                <a:cs typeface="Poppins"/>
                <a:sym typeface="Poppins"/>
              </a:rPr>
              <a:t>About</a:t>
            </a:r>
          </a:p>
        </p:txBody>
      </p:sp>
      <p:sp>
        <p:nvSpPr>
          <p:cNvPr name="TextBox 8" id="8"/>
          <p:cNvSpPr txBox="true"/>
          <p:nvPr/>
        </p:nvSpPr>
        <p:spPr>
          <a:xfrm rot="0">
            <a:off x="15689514" y="1122903"/>
            <a:ext cx="1441239" cy="342154"/>
          </a:xfrm>
          <a:prstGeom prst="rect">
            <a:avLst/>
          </a:prstGeom>
        </p:spPr>
        <p:txBody>
          <a:bodyPr anchor="t" rtlCol="false" tIns="0" lIns="0" bIns="0" rIns="0">
            <a:spAutoFit/>
          </a:bodyPr>
          <a:lstStyle/>
          <a:p>
            <a:pPr algn="ctr" marL="0" indent="0" lvl="0">
              <a:lnSpc>
                <a:spcPts val="2666"/>
              </a:lnSpc>
              <a:spcBef>
                <a:spcPct val="0"/>
              </a:spcBef>
            </a:pPr>
            <a:r>
              <a:rPr lang="en-US" sz="1904">
                <a:solidFill>
                  <a:srgbClr val="FF914D"/>
                </a:solidFill>
                <a:latin typeface="Poppins"/>
                <a:ea typeface="Poppins"/>
                <a:cs typeface="Poppins"/>
                <a:sym typeface="Poppins"/>
              </a:rPr>
              <a:t>Contact</a:t>
            </a:r>
          </a:p>
        </p:txBody>
      </p:sp>
      <p:sp>
        <p:nvSpPr>
          <p:cNvPr name="TextBox 9" id="9"/>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Yelp ML</a:t>
            </a:r>
          </a:p>
        </p:txBody>
      </p:sp>
      <p:grpSp>
        <p:nvGrpSpPr>
          <p:cNvPr name="Group 10" id="10"/>
          <p:cNvGrpSpPr/>
          <p:nvPr/>
        </p:nvGrpSpPr>
        <p:grpSpPr>
          <a:xfrm rot="0">
            <a:off x="17731301" y="3962396"/>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542751" y="6807918"/>
            <a:ext cx="5629940" cy="2450822"/>
          </a:xfrm>
          <a:prstGeom prst="rect">
            <a:avLst/>
          </a:prstGeom>
        </p:spPr>
        <p:txBody>
          <a:bodyPr anchor="t" rtlCol="false" tIns="0" lIns="0" bIns="0" rIns="0">
            <a:spAutoFit/>
          </a:bodyPr>
          <a:lstStyle/>
          <a:p>
            <a:pPr algn="l" marL="0" indent="0" lvl="0">
              <a:lnSpc>
                <a:spcPts val="3237"/>
              </a:lnSpc>
              <a:spcBef>
                <a:spcPct val="0"/>
              </a:spcBef>
            </a:pPr>
            <a:r>
              <a:rPr lang="en-US" sz="1904" strike="noStrike" u="none">
                <a:solidFill>
                  <a:srgbClr val="FFFFFF">
                    <a:alpha val="71765"/>
                  </a:srgbClr>
                </a:solidFill>
                <a:latin typeface="Poppins"/>
                <a:ea typeface="Poppins"/>
                <a:cs typeface="Poppins"/>
                <a:sym typeface="Poppins"/>
              </a:rPr>
              <a:t>Analysis reveals that longer reviews exhibit stronger sentiment polarity signals, making them more valuable for classification. Additionally, 80% of businesses have fewer than 50 reviews, creating a long-tail distribution that impacts model training.</a:t>
            </a:r>
          </a:p>
        </p:txBody>
      </p:sp>
      <p:sp>
        <p:nvSpPr>
          <p:cNvPr name="TextBox 14" id="14"/>
          <p:cNvSpPr txBox="true"/>
          <p:nvPr/>
        </p:nvSpPr>
        <p:spPr>
          <a:xfrm rot="0">
            <a:off x="1542751" y="5994310"/>
            <a:ext cx="5274088" cy="350510"/>
          </a:xfrm>
          <a:prstGeom prst="rect">
            <a:avLst/>
          </a:prstGeom>
        </p:spPr>
        <p:txBody>
          <a:bodyPr anchor="t" rtlCol="false" tIns="0" lIns="0" bIns="0" rIns="0">
            <a:spAutoFit/>
          </a:bodyPr>
          <a:lstStyle/>
          <a:p>
            <a:pPr algn="l" marL="0" indent="0" lvl="0">
              <a:lnSpc>
                <a:spcPts val="2730"/>
              </a:lnSpc>
            </a:pPr>
            <a:r>
              <a:rPr lang="en-US" b="true" sz="1950" spc="243">
                <a:solidFill>
                  <a:srgbClr val="FFFFFF"/>
                </a:solidFill>
                <a:latin typeface="Poppins Bold"/>
                <a:ea typeface="Poppins Bold"/>
                <a:cs typeface="Poppins Bold"/>
                <a:sym typeface="Poppins Bold"/>
              </a:rPr>
              <a:t>KEY INSIGHT 4</a:t>
            </a:r>
          </a:p>
        </p:txBody>
      </p:sp>
      <p:pic>
        <p:nvPicPr>
          <p:cNvPr name="Picture 15" id="15"/>
          <p:cNvPicPr>
            <a:picLocks noChangeAspect="true"/>
          </p:cNvPicPr>
          <p:nvPr/>
        </p:nvPicPr>
        <p:blipFill>
          <a:blip r:embed="rId2"/>
          <a:stretch>
            <a:fillRect/>
          </a:stretch>
        </p:blipFill>
        <p:spPr>
          <a:xfrm rot="0">
            <a:off x="9186942" y="2056750"/>
            <a:ext cx="8155922" cy="7381348"/>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542751" y="2348376"/>
            <a:ext cx="8564984" cy="2726688"/>
          </a:xfrm>
          <a:prstGeom prst="rect">
            <a:avLst/>
          </a:prstGeom>
        </p:spPr>
        <p:txBody>
          <a:bodyPr anchor="t" rtlCol="false" tIns="0" lIns="0" bIns="0" rIns="0">
            <a:spAutoFit/>
          </a:bodyPr>
          <a:lstStyle/>
          <a:p>
            <a:pPr algn="l" marL="0" indent="0" lvl="0">
              <a:lnSpc>
                <a:spcPts val="10085"/>
              </a:lnSpc>
            </a:pPr>
            <a:r>
              <a:rPr lang="en-US" b="true" sz="10505" spc="-535">
                <a:solidFill>
                  <a:srgbClr val="FF914D"/>
                </a:solidFill>
                <a:latin typeface="Poppins Semi-Bold"/>
                <a:ea typeface="Poppins Semi-Bold"/>
                <a:cs typeface="Poppins Semi-Bold"/>
                <a:sym typeface="Poppins Semi-Bold"/>
              </a:rPr>
              <a:t>Visualizations Gallery</a:t>
            </a:r>
          </a:p>
        </p:txBody>
      </p:sp>
      <p:sp>
        <p:nvSpPr>
          <p:cNvPr name="TextBox 6" id="6"/>
          <p:cNvSpPr txBox="true"/>
          <p:nvPr/>
        </p:nvSpPr>
        <p:spPr>
          <a:xfrm rot="0">
            <a:off x="9144000" y="6459151"/>
            <a:ext cx="7720619" cy="325748"/>
          </a:xfrm>
          <a:prstGeom prst="rect">
            <a:avLst/>
          </a:prstGeom>
        </p:spPr>
        <p:txBody>
          <a:bodyPr anchor="t" rtlCol="false" tIns="0" lIns="0" bIns="0" rIns="0">
            <a:spAutoFit/>
          </a:bodyPr>
          <a:lstStyle/>
          <a:p>
            <a:pPr algn="l" marL="0" indent="0" lvl="0">
              <a:lnSpc>
                <a:spcPts val="2520"/>
              </a:lnSpc>
            </a:pPr>
            <a:r>
              <a:rPr lang="en-US" b="true" sz="1800" spc="225">
                <a:solidFill>
                  <a:srgbClr val="FFFFFF"/>
                </a:solidFill>
                <a:latin typeface="Poppins Bold"/>
                <a:ea typeface="Poppins Bold"/>
                <a:cs typeface="Poppins Bold"/>
                <a:sym typeface="Poppins Bold"/>
              </a:rPr>
              <a:t>STATIC &amp; INTERACTIVE DASHBOARD SHOWCASE</a:t>
            </a:r>
          </a:p>
        </p:txBody>
      </p:sp>
      <p:sp>
        <p:nvSpPr>
          <p:cNvPr name="TextBox 7" id="7"/>
          <p:cNvSpPr txBox="true"/>
          <p:nvPr/>
        </p:nvSpPr>
        <p:spPr>
          <a:xfrm rot="0">
            <a:off x="11792179" y="1132428"/>
            <a:ext cx="927891" cy="307777"/>
          </a:xfrm>
          <a:prstGeom prst="rect">
            <a:avLst/>
          </a:prstGeom>
        </p:spPr>
        <p:txBody>
          <a:bodyPr anchor="t" rtlCol="false" tIns="0" lIns="0" bIns="0" rIns="0">
            <a:spAutoFit/>
          </a:bodyPr>
          <a:lstStyle/>
          <a:p>
            <a:pPr algn="ctr" marL="0" indent="0" lvl="0">
              <a:lnSpc>
                <a:spcPts val="2460"/>
              </a:lnSpc>
              <a:spcBef>
                <a:spcPct val="0"/>
              </a:spcBef>
            </a:pPr>
            <a:r>
              <a:rPr lang="en-US" sz="1757">
                <a:solidFill>
                  <a:srgbClr val="FFFFFF"/>
                </a:solidFill>
                <a:latin typeface="Poppins"/>
                <a:ea typeface="Poppins"/>
                <a:cs typeface="Poppins"/>
                <a:sym typeface="Poppins"/>
              </a:rPr>
              <a:t>Home</a:t>
            </a:r>
          </a:p>
        </p:txBody>
      </p:sp>
      <p:sp>
        <p:nvSpPr>
          <p:cNvPr name="TextBox 8" id="8"/>
          <p:cNvSpPr txBox="true"/>
          <p:nvPr/>
        </p:nvSpPr>
        <p:spPr>
          <a:xfrm rot="0">
            <a:off x="13824969" y="1132428"/>
            <a:ext cx="927891" cy="307777"/>
          </a:xfrm>
          <a:prstGeom prst="rect">
            <a:avLst/>
          </a:prstGeom>
        </p:spPr>
        <p:txBody>
          <a:bodyPr anchor="t" rtlCol="false" tIns="0" lIns="0" bIns="0" rIns="0">
            <a:spAutoFit/>
          </a:bodyPr>
          <a:lstStyle/>
          <a:p>
            <a:pPr algn="ctr" marL="0" indent="0" lvl="0">
              <a:lnSpc>
                <a:spcPts val="2460"/>
              </a:lnSpc>
              <a:spcBef>
                <a:spcPct val="0"/>
              </a:spcBef>
            </a:pPr>
            <a:r>
              <a:rPr lang="en-US" sz="1757">
                <a:solidFill>
                  <a:srgbClr val="FFFFFF"/>
                </a:solidFill>
                <a:latin typeface="Poppins"/>
                <a:ea typeface="Poppins"/>
                <a:cs typeface="Poppins"/>
                <a:sym typeface="Poppins"/>
              </a:rPr>
              <a:t>About</a:t>
            </a:r>
          </a:p>
        </p:txBody>
      </p:sp>
      <p:sp>
        <p:nvSpPr>
          <p:cNvPr name="TextBox 9" id="9"/>
          <p:cNvSpPr txBox="true"/>
          <p:nvPr/>
        </p:nvSpPr>
        <p:spPr>
          <a:xfrm rot="0">
            <a:off x="15689514" y="1132428"/>
            <a:ext cx="1441239" cy="307777"/>
          </a:xfrm>
          <a:prstGeom prst="rect">
            <a:avLst/>
          </a:prstGeom>
        </p:spPr>
        <p:txBody>
          <a:bodyPr anchor="t" rtlCol="false" tIns="0" lIns="0" bIns="0" rIns="0">
            <a:spAutoFit/>
          </a:bodyPr>
          <a:lstStyle/>
          <a:p>
            <a:pPr algn="ctr" marL="0" indent="0" lvl="0">
              <a:lnSpc>
                <a:spcPts val="2460"/>
              </a:lnSpc>
              <a:spcBef>
                <a:spcPct val="0"/>
              </a:spcBef>
            </a:pPr>
            <a:r>
              <a:rPr lang="en-US" sz="1757">
                <a:solidFill>
                  <a:srgbClr val="FF914D"/>
                </a:solidFill>
                <a:latin typeface="Poppins"/>
                <a:ea typeface="Poppins"/>
                <a:cs typeface="Poppins"/>
                <a:sym typeface="Poppins"/>
              </a:rPr>
              <a:t>Contact</a:t>
            </a:r>
          </a:p>
        </p:txBody>
      </p:sp>
      <p:sp>
        <p:nvSpPr>
          <p:cNvPr name="TextBox 10" id="10"/>
          <p:cNvSpPr txBox="true"/>
          <p:nvPr/>
        </p:nvSpPr>
        <p:spPr>
          <a:xfrm rot="0">
            <a:off x="1028700" y="1076325"/>
            <a:ext cx="2219723" cy="525088"/>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Rimberio</a:t>
            </a:r>
          </a:p>
        </p:txBody>
      </p:sp>
      <p:sp>
        <p:nvSpPr>
          <p:cNvPr name="TextBox 11" id="11"/>
          <p:cNvSpPr txBox="true"/>
          <p:nvPr/>
        </p:nvSpPr>
        <p:spPr>
          <a:xfrm rot="0">
            <a:off x="9144000" y="7231105"/>
            <a:ext cx="7720619" cy="1469529"/>
          </a:xfrm>
          <a:prstGeom prst="rect">
            <a:avLst/>
          </a:prstGeom>
        </p:spPr>
        <p:txBody>
          <a:bodyPr anchor="t" rtlCol="false" tIns="0" lIns="0" bIns="0" rIns="0">
            <a:spAutoFit/>
          </a:bodyPr>
          <a:lstStyle/>
          <a:p>
            <a:pPr algn="l" marL="0" indent="0" lvl="0">
              <a:lnSpc>
                <a:spcPts val="2988"/>
              </a:lnSpc>
              <a:spcBef>
                <a:spcPct val="0"/>
              </a:spcBef>
            </a:pPr>
            <a:r>
              <a:rPr lang="en-US" sz="1757" strike="noStrike" u="none">
                <a:solidFill>
                  <a:srgbClr val="FFFFFF">
                    <a:alpha val="71765"/>
                  </a:srgbClr>
                </a:solidFill>
                <a:latin typeface="Poppins"/>
                <a:ea typeface="Poppins"/>
                <a:cs typeface="Poppins"/>
                <a:sym typeface="Poppins"/>
              </a:rPr>
              <a:t>Static Visuals: City distribution bar charts, category pie charts, star rating histograms, review count distributions. Interactive Dashboards: ROC curves with hover metrics, performance gauges, radar charts for model comparison, donut charts for category analysis.</a:t>
            </a:r>
          </a:p>
        </p:txBody>
      </p:sp>
      <p:grpSp>
        <p:nvGrpSpPr>
          <p:cNvPr name="Group 12" id="12"/>
          <p:cNvGrpSpPr/>
          <p:nvPr/>
        </p:nvGrpSpPr>
        <p:grpSpPr>
          <a:xfrm rot="0">
            <a:off x="1280346" y="6055392"/>
            <a:ext cx="6992698" cy="4582719"/>
            <a:chOff x="0" y="0"/>
            <a:chExt cx="1124819" cy="737159"/>
          </a:xfrm>
        </p:grpSpPr>
        <p:sp>
          <p:nvSpPr>
            <p:cNvPr name="Freeform 13" id="13"/>
            <p:cNvSpPr/>
            <p:nvPr/>
          </p:nvSpPr>
          <p:spPr>
            <a:xfrm flipH="false" flipV="false" rot="0">
              <a:off x="0" y="0"/>
              <a:ext cx="1124819" cy="737159"/>
            </a:xfrm>
            <a:custGeom>
              <a:avLst/>
              <a:gdLst/>
              <a:ahLst/>
              <a:cxnLst/>
              <a:rect r="r" b="b" t="t" l="l"/>
              <a:pathLst>
                <a:path h="737159" w="1124819">
                  <a:moveTo>
                    <a:pt x="25464" y="0"/>
                  </a:moveTo>
                  <a:lnTo>
                    <a:pt x="1099355" y="0"/>
                  </a:lnTo>
                  <a:cubicBezTo>
                    <a:pt x="1113418" y="0"/>
                    <a:pt x="1124819" y="11401"/>
                    <a:pt x="1124819" y="25464"/>
                  </a:cubicBezTo>
                  <a:lnTo>
                    <a:pt x="1124819" y="711695"/>
                  </a:lnTo>
                  <a:cubicBezTo>
                    <a:pt x="1124819" y="725758"/>
                    <a:pt x="1113418" y="737159"/>
                    <a:pt x="1099355" y="737159"/>
                  </a:cubicBezTo>
                  <a:lnTo>
                    <a:pt x="25464" y="737159"/>
                  </a:lnTo>
                  <a:cubicBezTo>
                    <a:pt x="11401" y="737159"/>
                    <a:pt x="0" y="725758"/>
                    <a:pt x="0" y="711695"/>
                  </a:cubicBezTo>
                  <a:lnTo>
                    <a:pt x="0" y="25464"/>
                  </a:lnTo>
                  <a:cubicBezTo>
                    <a:pt x="0" y="11401"/>
                    <a:pt x="11401" y="0"/>
                    <a:pt x="25464" y="0"/>
                  </a:cubicBezTo>
                  <a:close/>
                </a:path>
              </a:pathLst>
            </a:custGeom>
            <a:blipFill>
              <a:blip r:embed="rId2"/>
              <a:stretch>
                <a:fillRect l="0" t="-1403" r="0" b="-1403"/>
              </a:stretch>
            </a:blipFill>
            <a:ln w="123825" cap="rnd">
              <a:solidFill>
                <a:srgbClr val="FF914D"/>
              </a:solidFill>
              <a:prstDash val="solid"/>
              <a:round/>
            </a:ln>
          </p:spPr>
        </p:sp>
      </p:grpSp>
      <p:grpSp>
        <p:nvGrpSpPr>
          <p:cNvPr name="Group 14" id="14"/>
          <p:cNvGrpSpPr/>
          <p:nvPr/>
        </p:nvGrpSpPr>
        <p:grpSpPr>
          <a:xfrm rot="0">
            <a:off x="9637764" y="2366273"/>
            <a:ext cx="7621536" cy="3265400"/>
            <a:chOff x="0" y="0"/>
            <a:chExt cx="1720550" cy="737159"/>
          </a:xfrm>
        </p:grpSpPr>
        <p:sp>
          <p:nvSpPr>
            <p:cNvPr name="Freeform 15" id="15"/>
            <p:cNvSpPr/>
            <p:nvPr/>
          </p:nvSpPr>
          <p:spPr>
            <a:xfrm flipH="false" flipV="false" rot="0">
              <a:off x="0" y="0"/>
              <a:ext cx="1720550" cy="737159"/>
            </a:xfrm>
            <a:custGeom>
              <a:avLst/>
              <a:gdLst/>
              <a:ahLst/>
              <a:cxnLst/>
              <a:rect r="r" b="b" t="t" l="l"/>
              <a:pathLst>
                <a:path h="737159" w="1720550">
                  <a:moveTo>
                    <a:pt x="23363" y="0"/>
                  </a:moveTo>
                  <a:lnTo>
                    <a:pt x="1697187" y="0"/>
                  </a:lnTo>
                  <a:cubicBezTo>
                    <a:pt x="1703383" y="0"/>
                    <a:pt x="1709325" y="2461"/>
                    <a:pt x="1713707" y="6843"/>
                  </a:cubicBezTo>
                  <a:cubicBezTo>
                    <a:pt x="1718088" y="11224"/>
                    <a:pt x="1720550" y="17167"/>
                    <a:pt x="1720550" y="23363"/>
                  </a:cubicBezTo>
                  <a:lnTo>
                    <a:pt x="1720550" y="713796"/>
                  </a:lnTo>
                  <a:cubicBezTo>
                    <a:pt x="1720550" y="726699"/>
                    <a:pt x="1710090" y="737159"/>
                    <a:pt x="1697187" y="737159"/>
                  </a:cubicBezTo>
                  <a:lnTo>
                    <a:pt x="23363" y="737159"/>
                  </a:lnTo>
                  <a:cubicBezTo>
                    <a:pt x="10460" y="737159"/>
                    <a:pt x="0" y="726699"/>
                    <a:pt x="0" y="713796"/>
                  </a:cubicBezTo>
                  <a:lnTo>
                    <a:pt x="0" y="23363"/>
                  </a:lnTo>
                  <a:cubicBezTo>
                    <a:pt x="0" y="10460"/>
                    <a:pt x="10460" y="0"/>
                    <a:pt x="23363" y="0"/>
                  </a:cubicBezTo>
                  <a:close/>
                </a:path>
              </a:pathLst>
            </a:custGeom>
            <a:blipFill>
              <a:blip r:embed="rId3"/>
              <a:stretch>
                <a:fillRect l="0" t="-16519" r="0" b="-16519"/>
              </a:stretch>
            </a:blipFill>
            <a:ln w="123825" cap="rnd">
              <a:solidFill>
                <a:srgbClr val="FF914D"/>
              </a:solidFill>
              <a:prstDash val="solid"/>
              <a:round/>
            </a:ln>
          </p:spPr>
        </p:sp>
      </p:grpSp>
      <p:grpSp>
        <p:nvGrpSpPr>
          <p:cNvPr name="Group 16" id="16"/>
          <p:cNvGrpSpPr/>
          <p:nvPr/>
        </p:nvGrpSpPr>
        <p:grpSpPr>
          <a:xfrm rot="0">
            <a:off x="16989895" y="9111221"/>
            <a:ext cx="2089064" cy="20890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8" id="18"/>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653916" y="2437823"/>
            <a:ext cx="14980167" cy="977811"/>
          </a:xfrm>
          <a:prstGeom prst="rect">
            <a:avLst/>
          </a:prstGeom>
        </p:spPr>
        <p:txBody>
          <a:bodyPr anchor="t" rtlCol="false" tIns="0" lIns="0" bIns="0" rIns="0">
            <a:spAutoFit/>
          </a:bodyPr>
          <a:lstStyle/>
          <a:p>
            <a:pPr algn="ctr" marL="0" indent="0" lvl="0">
              <a:lnSpc>
                <a:spcPts val="6797"/>
              </a:lnSpc>
            </a:pPr>
            <a:r>
              <a:rPr lang="en-US" b="true" sz="7080" spc="-361">
                <a:solidFill>
                  <a:srgbClr val="FF914D"/>
                </a:solidFill>
                <a:latin typeface="Poppins Semi-Bold"/>
                <a:ea typeface="Poppins Semi-Bold"/>
                <a:cs typeface="Poppins Semi-Bold"/>
                <a:sym typeface="Poppins Semi-Bold"/>
              </a:rPr>
              <a:t>Configuration Constants</a:t>
            </a:r>
          </a:p>
        </p:txBody>
      </p:sp>
      <p:sp>
        <p:nvSpPr>
          <p:cNvPr name="TextBox 6" id="6"/>
          <p:cNvSpPr txBox="true"/>
          <p:nvPr/>
        </p:nvSpPr>
        <p:spPr>
          <a:xfrm rot="0">
            <a:off x="11792179" y="1141953"/>
            <a:ext cx="927891" cy="274463"/>
          </a:xfrm>
          <a:prstGeom prst="rect">
            <a:avLst/>
          </a:prstGeom>
        </p:spPr>
        <p:txBody>
          <a:bodyPr anchor="t" rtlCol="false" tIns="0" lIns="0" bIns="0" rIns="0">
            <a:spAutoFit/>
          </a:bodyPr>
          <a:lstStyle/>
          <a:p>
            <a:pPr algn="ctr" marL="0" indent="0" lvl="0">
              <a:lnSpc>
                <a:spcPts val="2197"/>
              </a:lnSpc>
              <a:spcBef>
                <a:spcPct val="0"/>
              </a:spcBef>
            </a:pPr>
            <a:r>
              <a:rPr lang="en-US" sz="1569">
                <a:solidFill>
                  <a:srgbClr val="FFFFFF"/>
                </a:solidFill>
                <a:latin typeface="Poppins"/>
                <a:ea typeface="Poppins"/>
                <a:cs typeface="Poppins"/>
                <a:sym typeface="Poppins"/>
              </a:rPr>
              <a:t>Docs</a:t>
            </a:r>
          </a:p>
        </p:txBody>
      </p:sp>
      <p:sp>
        <p:nvSpPr>
          <p:cNvPr name="TextBox 7" id="7"/>
          <p:cNvSpPr txBox="true"/>
          <p:nvPr/>
        </p:nvSpPr>
        <p:spPr>
          <a:xfrm rot="0">
            <a:off x="13824969" y="1141953"/>
            <a:ext cx="927891" cy="274463"/>
          </a:xfrm>
          <a:prstGeom prst="rect">
            <a:avLst/>
          </a:prstGeom>
        </p:spPr>
        <p:txBody>
          <a:bodyPr anchor="t" rtlCol="false" tIns="0" lIns="0" bIns="0" rIns="0">
            <a:spAutoFit/>
          </a:bodyPr>
          <a:lstStyle/>
          <a:p>
            <a:pPr algn="ctr" marL="0" indent="0" lvl="0">
              <a:lnSpc>
                <a:spcPts val="2197"/>
              </a:lnSpc>
              <a:spcBef>
                <a:spcPct val="0"/>
              </a:spcBef>
            </a:pPr>
            <a:r>
              <a:rPr lang="en-US" sz="1569">
                <a:solidFill>
                  <a:srgbClr val="FFFFFF"/>
                </a:solidFill>
                <a:latin typeface="Poppins"/>
                <a:ea typeface="Poppins"/>
                <a:cs typeface="Poppins"/>
                <a:sym typeface="Poppins"/>
              </a:rPr>
              <a:t>Code</a:t>
            </a:r>
          </a:p>
        </p:txBody>
      </p:sp>
      <p:sp>
        <p:nvSpPr>
          <p:cNvPr name="TextBox 8" id="8"/>
          <p:cNvSpPr txBox="true"/>
          <p:nvPr/>
        </p:nvSpPr>
        <p:spPr>
          <a:xfrm rot="0">
            <a:off x="15689514" y="1141953"/>
            <a:ext cx="1441239" cy="274463"/>
          </a:xfrm>
          <a:prstGeom prst="rect">
            <a:avLst/>
          </a:prstGeom>
        </p:spPr>
        <p:txBody>
          <a:bodyPr anchor="t" rtlCol="false" tIns="0" lIns="0" bIns="0" rIns="0">
            <a:spAutoFit/>
          </a:bodyPr>
          <a:lstStyle/>
          <a:p>
            <a:pPr algn="ctr" marL="0" indent="0" lvl="0">
              <a:lnSpc>
                <a:spcPts val="2197"/>
              </a:lnSpc>
              <a:spcBef>
                <a:spcPct val="0"/>
              </a:spcBef>
            </a:pPr>
            <a:r>
              <a:rPr lang="en-US" sz="1569">
                <a:solidFill>
                  <a:srgbClr val="FF914D"/>
                </a:solidFill>
                <a:latin typeface="Poppins"/>
                <a:ea typeface="Poppins"/>
                <a:cs typeface="Poppins"/>
                <a:sym typeface="Poppins"/>
              </a:rPr>
              <a:t>GitHub</a:t>
            </a:r>
          </a:p>
        </p:txBody>
      </p:sp>
      <p:sp>
        <p:nvSpPr>
          <p:cNvPr name="TextBox 9" id="9"/>
          <p:cNvSpPr txBox="true"/>
          <p:nvPr/>
        </p:nvSpPr>
        <p:spPr>
          <a:xfrm rot="0">
            <a:off x="1028700" y="1066800"/>
            <a:ext cx="2219723" cy="477172"/>
          </a:xfrm>
          <a:prstGeom prst="rect">
            <a:avLst/>
          </a:prstGeom>
        </p:spPr>
        <p:txBody>
          <a:bodyPr anchor="t" rtlCol="false" tIns="0" lIns="0" bIns="0" rIns="0">
            <a:spAutoFit/>
          </a:bodyPr>
          <a:lstStyle/>
          <a:p>
            <a:pPr algn="l" marL="0" indent="0" lvl="0">
              <a:lnSpc>
                <a:spcPts val="3247"/>
              </a:lnSpc>
            </a:pPr>
            <a:r>
              <a:rPr lang="en-US" b="true" sz="3382" spc="-172">
                <a:solidFill>
                  <a:srgbClr val="FFFFFF"/>
                </a:solidFill>
                <a:latin typeface="Poppins Semi-Bold"/>
                <a:ea typeface="Poppins Semi-Bold"/>
                <a:cs typeface="Poppins Semi-Bold"/>
                <a:sym typeface="Poppins Semi-Bold"/>
              </a:rPr>
              <a:t>BigData ML</a:t>
            </a:r>
          </a:p>
        </p:txBody>
      </p:sp>
      <p:grpSp>
        <p:nvGrpSpPr>
          <p:cNvPr name="Group 10" id="10"/>
          <p:cNvGrpSpPr/>
          <p:nvPr/>
        </p:nvGrpSpPr>
        <p:grpSpPr>
          <a:xfrm rot="0">
            <a:off x="-1044532" y="2342573"/>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1985212" y="5588314"/>
            <a:ext cx="5274088" cy="1897420"/>
          </a:xfrm>
          <a:prstGeom prst="rect">
            <a:avLst/>
          </a:prstGeom>
        </p:spPr>
        <p:txBody>
          <a:bodyPr anchor="t" rtlCol="false" tIns="0" lIns="0" bIns="0" rIns="0">
            <a:spAutoFit/>
          </a:bodyPr>
          <a:lstStyle/>
          <a:p>
            <a:pPr algn="l"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Cassandra ConnectionCASSANDRA_HOST = "cassandra"</a:t>
            </a:r>
          </a:p>
          <a:p>
            <a:pPr algn="l"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CASSANDRA_PORT = 9042</a:t>
            </a:r>
          </a:p>
          <a:p>
            <a:pPr algn="l"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KEYSPACE = "yelp_analytics"</a:t>
            </a:r>
          </a:p>
          <a:p>
            <a:pPr algn="l"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REPLICATION_FACTOR = 1</a:t>
            </a:r>
          </a:p>
        </p:txBody>
      </p:sp>
      <p:sp>
        <p:nvSpPr>
          <p:cNvPr name="TextBox 14" id="14"/>
          <p:cNvSpPr txBox="true"/>
          <p:nvPr/>
        </p:nvSpPr>
        <p:spPr>
          <a:xfrm rot="0">
            <a:off x="11985212" y="4774706"/>
            <a:ext cx="4060154" cy="292550"/>
          </a:xfrm>
          <a:prstGeom prst="rect">
            <a:avLst/>
          </a:prstGeom>
        </p:spPr>
        <p:txBody>
          <a:bodyPr anchor="t" rtlCol="false" tIns="0" lIns="0" bIns="0" rIns="0">
            <a:spAutoFit/>
          </a:bodyPr>
          <a:lstStyle/>
          <a:p>
            <a:pPr algn="l" marL="0" indent="0" lvl="0">
              <a:lnSpc>
                <a:spcPts val="2250"/>
              </a:lnSpc>
            </a:pPr>
            <a:r>
              <a:rPr lang="en-US" b="true" sz="1607" spc="200">
                <a:solidFill>
                  <a:srgbClr val="FFFFFF"/>
                </a:solidFill>
                <a:latin typeface="Poppins Bold"/>
                <a:ea typeface="Poppins Bold"/>
                <a:cs typeface="Poppins Bold"/>
                <a:sym typeface="Poppins Bold"/>
              </a:rPr>
              <a:t>INFRASTRUCTURE SETTINGS</a:t>
            </a:r>
          </a:p>
        </p:txBody>
      </p:sp>
      <p:sp>
        <p:nvSpPr>
          <p:cNvPr name="TextBox 15" id="15"/>
          <p:cNvSpPr txBox="true"/>
          <p:nvPr/>
        </p:nvSpPr>
        <p:spPr>
          <a:xfrm rot="0">
            <a:off x="1028700" y="5588314"/>
            <a:ext cx="5420237" cy="1897420"/>
          </a:xfrm>
          <a:prstGeom prst="rect">
            <a:avLst/>
          </a:prstGeom>
        </p:spPr>
        <p:txBody>
          <a:bodyPr anchor="t" rtlCol="false" tIns="0" lIns="0" bIns="0" rIns="0">
            <a:spAutoFit/>
          </a:bodyPr>
          <a:lstStyle/>
          <a:p>
            <a:pPr algn="r"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SAMPLE_FRACTION = 0.1</a:t>
            </a:r>
          </a:p>
          <a:p>
            <a:pPr algn="r"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MIN_REVIEW_LENGTH = 15</a:t>
            </a:r>
          </a:p>
          <a:p>
            <a:pPr algn="r"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MAX_REVIEW_LENGTH = 8000</a:t>
            </a:r>
          </a:p>
          <a:p>
            <a:pPr algn="r"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RANDOM_SEED = 42</a:t>
            </a:r>
          </a:p>
          <a:p>
            <a:pPr algn="r" marL="0" indent="0" lvl="0">
              <a:lnSpc>
                <a:spcPts val="3007"/>
              </a:lnSpc>
              <a:spcBef>
                <a:spcPct val="0"/>
              </a:spcBef>
            </a:pPr>
            <a:r>
              <a:rPr lang="en-US" sz="1769" strike="noStrike" u="none">
                <a:solidFill>
                  <a:srgbClr val="FFFFFF">
                    <a:alpha val="71765"/>
                  </a:srgbClr>
                </a:solidFill>
                <a:latin typeface="Poppins"/>
                <a:ea typeface="Poppins"/>
                <a:cs typeface="Poppins"/>
                <a:sym typeface="Poppins"/>
              </a:rPr>
              <a:t>TRAIN_TEST_SPLIT = 0.8</a:t>
            </a:r>
          </a:p>
        </p:txBody>
      </p:sp>
      <p:sp>
        <p:nvSpPr>
          <p:cNvPr name="TextBox 16" id="16"/>
          <p:cNvSpPr txBox="true"/>
          <p:nvPr/>
        </p:nvSpPr>
        <p:spPr>
          <a:xfrm rot="0">
            <a:off x="2759269" y="4774706"/>
            <a:ext cx="3689669" cy="292550"/>
          </a:xfrm>
          <a:prstGeom prst="rect">
            <a:avLst/>
          </a:prstGeom>
        </p:spPr>
        <p:txBody>
          <a:bodyPr anchor="t" rtlCol="false" tIns="0" lIns="0" bIns="0" rIns="0">
            <a:spAutoFit/>
          </a:bodyPr>
          <a:lstStyle/>
          <a:p>
            <a:pPr algn="r" marL="0" indent="0" lvl="0">
              <a:lnSpc>
                <a:spcPts val="2250"/>
              </a:lnSpc>
            </a:pPr>
            <a:r>
              <a:rPr lang="en-US" b="true" sz="1607" spc="200">
                <a:solidFill>
                  <a:srgbClr val="FFFFFF"/>
                </a:solidFill>
                <a:latin typeface="Poppins Bold"/>
                <a:ea typeface="Poppins Bold"/>
                <a:cs typeface="Poppins Bold"/>
                <a:sym typeface="Poppins Bold"/>
              </a:rPr>
              <a:t>PIPELINE PARAMETERS</a:t>
            </a:r>
          </a:p>
        </p:txBody>
      </p:sp>
      <p:grpSp>
        <p:nvGrpSpPr>
          <p:cNvPr name="Group 17" id="17"/>
          <p:cNvGrpSpPr/>
          <p:nvPr/>
        </p:nvGrpSpPr>
        <p:grpSpPr>
          <a:xfrm rot="0">
            <a:off x="4912110" y="6639237"/>
            <a:ext cx="8463780" cy="84637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5493" t="-38064" r="-51732" b="0"/>
              </a:stretch>
            </a:blipFill>
            <a:ln w="161925" cap="sq">
              <a:solidFill>
                <a:srgbClr val="FF914D"/>
              </a:solidFill>
              <a:prstDash val="solid"/>
              <a:miter/>
            </a:ln>
          </p:spPr>
        </p:sp>
      </p:grpSp>
      <p:grpSp>
        <p:nvGrpSpPr>
          <p:cNvPr name="Group 19" id="19"/>
          <p:cNvGrpSpPr/>
          <p:nvPr/>
        </p:nvGrpSpPr>
        <p:grpSpPr>
          <a:xfrm rot="0">
            <a:off x="17259300" y="8197936"/>
            <a:ext cx="2089064" cy="20890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1" id="21"/>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7472739" y="4526887"/>
            <a:ext cx="3342521" cy="977811"/>
          </a:xfrm>
          <a:prstGeom prst="rect">
            <a:avLst/>
          </a:prstGeom>
        </p:spPr>
        <p:txBody>
          <a:bodyPr anchor="t" rtlCol="false" tIns="0" lIns="0" bIns="0" rIns="0">
            <a:spAutoFit/>
          </a:bodyPr>
          <a:lstStyle/>
          <a:p>
            <a:pPr algn="ctr" marL="0" indent="0" lvl="0">
              <a:lnSpc>
                <a:spcPts val="6797"/>
              </a:lnSpc>
            </a:pPr>
            <a:r>
              <a:rPr lang="en-US" b="true" sz="7080" spc="-361">
                <a:solidFill>
                  <a:srgbClr val="FF914D"/>
                </a:solidFill>
                <a:latin typeface="Poppins Semi-Bold"/>
                <a:ea typeface="Poppins Semi-Bold"/>
                <a:cs typeface="Poppins Semi-Bold"/>
                <a:sym typeface="Poppins Semi-Bold"/>
              </a:rPr>
              <a:t>Listing 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5" id="5"/>
          <p:cNvSpPr txBox="true"/>
          <p:nvPr/>
        </p:nvSpPr>
        <p:spPr>
          <a:xfrm rot="0">
            <a:off x="1653916" y="2466398"/>
            <a:ext cx="14980167" cy="1294950"/>
          </a:xfrm>
          <a:prstGeom prst="rect">
            <a:avLst/>
          </a:prstGeom>
        </p:spPr>
        <p:txBody>
          <a:bodyPr anchor="t" rtlCol="false" tIns="0" lIns="0" bIns="0" rIns="0">
            <a:spAutoFit/>
          </a:bodyPr>
          <a:lstStyle/>
          <a:p>
            <a:pPr algn="ctr" marL="0" indent="0" lvl="0">
              <a:lnSpc>
                <a:spcPts val="8985"/>
              </a:lnSpc>
            </a:pPr>
            <a:r>
              <a:rPr lang="en-US" b="true" sz="9360" spc="-477">
                <a:solidFill>
                  <a:srgbClr val="FF914D"/>
                </a:solidFill>
                <a:latin typeface="Poppins Semi-Bold"/>
                <a:ea typeface="Poppins Semi-Bold"/>
                <a:cs typeface="Poppins Semi-Bold"/>
                <a:sym typeface="Poppins Semi-Bold"/>
              </a:rPr>
              <a:t>Docker Compose Workflow</a:t>
            </a:r>
          </a:p>
        </p:txBody>
      </p:sp>
      <p:sp>
        <p:nvSpPr>
          <p:cNvPr name="TextBox 6" id="6"/>
          <p:cNvSpPr txBox="true"/>
          <p:nvPr/>
        </p:nvSpPr>
        <p:spPr>
          <a:xfrm rot="0">
            <a:off x="11792179" y="1132428"/>
            <a:ext cx="927891" cy="259668"/>
          </a:xfrm>
          <a:prstGeom prst="rect">
            <a:avLst/>
          </a:prstGeom>
        </p:spPr>
        <p:txBody>
          <a:bodyPr anchor="t" rtlCol="false" tIns="0" lIns="0" bIns="0" rIns="0">
            <a:spAutoFit/>
          </a:bodyPr>
          <a:lstStyle/>
          <a:p>
            <a:pPr algn="ctr" marL="0" indent="0" lvl="0">
              <a:lnSpc>
                <a:spcPts val="1962"/>
              </a:lnSpc>
              <a:spcBef>
                <a:spcPct val="0"/>
              </a:spcBef>
            </a:pPr>
            <a:r>
              <a:rPr lang="en-US" sz="1401">
                <a:solidFill>
                  <a:srgbClr val="FFFFFF"/>
                </a:solidFill>
                <a:latin typeface="Poppins"/>
                <a:ea typeface="Poppins"/>
                <a:cs typeface="Poppins"/>
                <a:sym typeface="Poppins"/>
              </a:rPr>
              <a:t>Home</a:t>
            </a:r>
          </a:p>
        </p:txBody>
      </p:sp>
      <p:sp>
        <p:nvSpPr>
          <p:cNvPr name="TextBox 7" id="7"/>
          <p:cNvSpPr txBox="true"/>
          <p:nvPr/>
        </p:nvSpPr>
        <p:spPr>
          <a:xfrm rot="0">
            <a:off x="13824969" y="1132428"/>
            <a:ext cx="927891" cy="259668"/>
          </a:xfrm>
          <a:prstGeom prst="rect">
            <a:avLst/>
          </a:prstGeom>
        </p:spPr>
        <p:txBody>
          <a:bodyPr anchor="t" rtlCol="false" tIns="0" lIns="0" bIns="0" rIns="0">
            <a:spAutoFit/>
          </a:bodyPr>
          <a:lstStyle/>
          <a:p>
            <a:pPr algn="ctr" marL="0" indent="0" lvl="0">
              <a:lnSpc>
                <a:spcPts val="1962"/>
              </a:lnSpc>
              <a:spcBef>
                <a:spcPct val="0"/>
              </a:spcBef>
            </a:pPr>
            <a:r>
              <a:rPr lang="en-US" sz="1401">
                <a:solidFill>
                  <a:srgbClr val="FFFFFF"/>
                </a:solidFill>
                <a:latin typeface="Poppins"/>
                <a:ea typeface="Poppins"/>
                <a:cs typeface="Poppins"/>
                <a:sym typeface="Poppins"/>
              </a:rPr>
              <a:t>About</a:t>
            </a:r>
          </a:p>
        </p:txBody>
      </p:sp>
      <p:sp>
        <p:nvSpPr>
          <p:cNvPr name="TextBox 8" id="8"/>
          <p:cNvSpPr txBox="true"/>
          <p:nvPr/>
        </p:nvSpPr>
        <p:spPr>
          <a:xfrm rot="0">
            <a:off x="15689514" y="1132428"/>
            <a:ext cx="1441239" cy="259668"/>
          </a:xfrm>
          <a:prstGeom prst="rect">
            <a:avLst/>
          </a:prstGeom>
        </p:spPr>
        <p:txBody>
          <a:bodyPr anchor="t" rtlCol="false" tIns="0" lIns="0" bIns="0" rIns="0">
            <a:spAutoFit/>
          </a:bodyPr>
          <a:lstStyle/>
          <a:p>
            <a:pPr algn="ctr" marL="0" indent="0" lvl="0">
              <a:lnSpc>
                <a:spcPts val="1962"/>
              </a:lnSpc>
              <a:spcBef>
                <a:spcPct val="0"/>
              </a:spcBef>
            </a:pPr>
            <a:r>
              <a:rPr lang="en-US" sz="1401">
                <a:solidFill>
                  <a:srgbClr val="FF914D"/>
                </a:solidFill>
                <a:latin typeface="Poppins"/>
                <a:ea typeface="Poppins"/>
                <a:cs typeface="Poppins"/>
                <a:sym typeface="Poppins"/>
              </a:rPr>
              <a:t>Contact</a:t>
            </a:r>
          </a:p>
        </p:txBody>
      </p:sp>
      <p:sp>
        <p:nvSpPr>
          <p:cNvPr name="TextBox 9" id="9"/>
          <p:cNvSpPr txBox="true"/>
          <p:nvPr/>
        </p:nvSpPr>
        <p:spPr>
          <a:xfrm rot="0">
            <a:off x="1028700" y="1066800"/>
            <a:ext cx="2219723" cy="477172"/>
          </a:xfrm>
          <a:prstGeom prst="rect">
            <a:avLst/>
          </a:prstGeom>
        </p:spPr>
        <p:txBody>
          <a:bodyPr anchor="t" rtlCol="false" tIns="0" lIns="0" bIns="0" rIns="0">
            <a:spAutoFit/>
          </a:bodyPr>
          <a:lstStyle/>
          <a:p>
            <a:pPr algn="l" marL="0" indent="0" lvl="0">
              <a:lnSpc>
                <a:spcPts val="3247"/>
              </a:lnSpc>
            </a:pPr>
            <a:r>
              <a:rPr lang="en-US" b="true" sz="3382" spc="-172">
                <a:solidFill>
                  <a:srgbClr val="FFFFFF"/>
                </a:solidFill>
                <a:latin typeface="Poppins Semi-Bold"/>
                <a:ea typeface="Poppins Semi-Bold"/>
                <a:cs typeface="Poppins Semi-Bold"/>
                <a:sym typeface="Poppins Semi-Bold"/>
              </a:rPr>
              <a:t>BigData ML</a:t>
            </a:r>
          </a:p>
        </p:txBody>
      </p:sp>
      <p:grpSp>
        <p:nvGrpSpPr>
          <p:cNvPr name="Group 10" id="10"/>
          <p:cNvGrpSpPr/>
          <p:nvPr/>
        </p:nvGrpSpPr>
        <p:grpSpPr>
          <a:xfrm rot="0">
            <a:off x="-1044532" y="2342573"/>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11985212" y="5607364"/>
            <a:ext cx="5274088" cy="1473081"/>
          </a:xfrm>
          <a:prstGeom prst="rect">
            <a:avLst/>
          </a:prstGeom>
        </p:spPr>
        <p:txBody>
          <a:bodyPr anchor="t" rtlCol="false" tIns="0" lIns="0" bIns="0" rIns="0">
            <a:spAutoFit/>
          </a:bodyPr>
          <a:lstStyle/>
          <a:p>
            <a:pPr algn="l"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Run ML training pipelinedocker-compose exec spark-master </a:t>
            </a:r>
          </a:p>
          <a:p>
            <a:pPr algn="l"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spark-submit train_models.py</a:t>
            </a:r>
          </a:p>
          <a:p>
            <a:pPr algn="l"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Generate visualizationsdocker-compose exec jupyter </a:t>
            </a:r>
          </a:p>
          <a:p>
            <a:pPr algn="l"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python generate_viz.py</a:t>
            </a:r>
          </a:p>
        </p:txBody>
      </p:sp>
      <p:sp>
        <p:nvSpPr>
          <p:cNvPr name="TextBox 14" id="14"/>
          <p:cNvSpPr txBox="true"/>
          <p:nvPr/>
        </p:nvSpPr>
        <p:spPr>
          <a:xfrm rot="0">
            <a:off x="11985212" y="4784231"/>
            <a:ext cx="4060154" cy="249282"/>
          </a:xfrm>
          <a:prstGeom prst="rect">
            <a:avLst/>
          </a:prstGeom>
        </p:spPr>
        <p:txBody>
          <a:bodyPr anchor="t" rtlCol="false" tIns="0" lIns="0" bIns="0" rIns="0">
            <a:spAutoFit/>
          </a:bodyPr>
          <a:lstStyle/>
          <a:p>
            <a:pPr algn="l" marL="0" indent="0" lvl="0">
              <a:lnSpc>
                <a:spcPts val="2010"/>
              </a:lnSpc>
            </a:pPr>
            <a:r>
              <a:rPr lang="en-US" b="true" sz="1435" spc="179">
                <a:solidFill>
                  <a:srgbClr val="FFFFFF"/>
                </a:solidFill>
                <a:latin typeface="Poppins Bold"/>
                <a:ea typeface="Poppins Bold"/>
                <a:cs typeface="Poppins Bold"/>
                <a:sym typeface="Poppins Bold"/>
              </a:rPr>
              <a:t>TRAIN &amp; VISUALIZE</a:t>
            </a:r>
          </a:p>
        </p:txBody>
      </p:sp>
      <p:sp>
        <p:nvSpPr>
          <p:cNvPr name="TextBox 15" id="15"/>
          <p:cNvSpPr txBox="true"/>
          <p:nvPr/>
        </p:nvSpPr>
        <p:spPr>
          <a:xfrm rot="0">
            <a:off x="1028700" y="5607364"/>
            <a:ext cx="5420237" cy="1473081"/>
          </a:xfrm>
          <a:prstGeom prst="rect">
            <a:avLst/>
          </a:prstGeom>
        </p:spPr>
        <p:txBody>
          <a:bodyPr anchor="t" rtlCol="false" tIns="0" lIns="0" bIns="0" rIns="0">
            <a:spAutoFit/>
          </a:bodyPr>
          <a:lstStyle/>
          <a:p>
            <a:pPr algn="r"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Start all servicesdocker-compose up -d cassandra spark</a:t>
            </a:r>
          </a:p>
          <a:p>
            <a:pPr algn="r"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Prepare and clean datadocker-compose exec spark-master </a:t>
            </a:r>
          </a:p>
          <a:p>
            <a:pPr algn="r"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python prepare_data.py</a:t>
            </a:r>
          </a:p>
          <a:p>
            <a:pPr algn="r"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Run exploratory analysisdocker-compose exec jupyter </a:t>
            </a:r>
          </a:p>
          <a:p>
            <a:pPr algn="r" marL="0" indent="0" lvl="0">
              <a:lnSpc>
                <a:spcPts val="2383"/>
              </a:lnSpc>
              <a:spcBef>
                <a:spcPct val="0"/>
              </a:spcBef>
            </a:pPr>
            <a:r>
              <a:rPr lang="en-US" sz="1401" strike="noStrike" u="none">
                <a:solidFill>
                  <a:srgbClr val="FFFFFF">
                    <a:alpha val="71765"/>
                  </a:srgbClr>
                </a:solidFill>
                <a:latin typeface="Poppins"/>
                <a:ea typeface="Poppins"/>
                <a:cs typeface="Poppins"/>
                <a:sym typeface="Poppins"/>
              </a:rPr>
              <a:t>python run_eda.py</a:t>
            </a:r>
          </a:p>
        </p:txBody>
      </p:sp>
      <p:sp>
        <p:nvSpPr>
          <p:cNvPr name="TextBox 16" id="16"/>
          <p:cNvSpPr txBox="true"/>
          <p:nvPr/>
        </p:nvSpPr>
        <p:spPr>
          <a:xfrm rot="0">
            <a:off x="2759269" y="4784231"/>
            <a:ext cx="3689669" cy="249282"/>
          </a:xfrm>
          <a:prstGeom prst="rect">
            <a:avLst/>
          </a:prstGeom>
        </p:spPr>
        <p:txBody>
          <a:bodyPr anchor="t" rtlCol="false" tIns="0" lIns="0" bIns="0" rIns="0">
            <a:spAutoFit/>
          </a:bodyPr>
          <a:lstStyle/>
          <a:p>
            <a:pPr algn="r" marL="0" indent="0" lvl="0">
              <a:lnSpc>
                <a:spcPts val="2010"/>
              </a:lnSpc>
            </a:pPr>
            <a:r>
              <a:rPr lang="en-US" b="true" sz="1435" spc="179">
                <a:solidFill>
                  <a:srgbClr val="FFFFFF"/>
                </a:solidFill>
                <a:latin typeface="Poppins Bold"/>
                <a:ea typeface="Poppins Bold"/>
                <a:cs typeface="Poppins Bold"/>
                <a:sym typeface="Poppins Bold"/>
              </a:rPr>
              <a:t>SETUP &amp; DATA PREP</a:t>
            </a:r>
          </a:p>
        </p:txBody>
      </p:sp>
      <p:grpSp>
        <p:nvGrpSpPr>
          <p:cNvPr name="Group 17" id="17"/>
          <p:cNvGrpSpPr/>
          <p:nvPr/>
        </p:nvGrpSpPr>
        <p:grpSpPr>
          <a:xfrm rot="0">
            <a:off x="4912110" y="6639237"/>
            <a:ext cx="8463780" cy="84637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5493" t="-38064" r="-51732" b="0"/>
              </a:stretch>
            </a:blipFill>
            <a:ln w="161925" cap="sq">
              <a:solidFill>
                <a:srgbClr val="FF914D"/>
              </a:solidFill>
              <a:prstDash val="solid"/>
              <a:miter/>
            </a:ln>
          </p:spPr>
        </p:sp>
      </p:grpSp>
      <p:grpSp>
        <p:nvGrpSpPr>
          <p:cNvPr name="Group 19" id="19"/>
          <p:cNvGrpSpPr/>
          <p:nvPr/>
        </p:nvGrpSpPr>
        <p:grpSpPr>
          <a:xfrm rot="0">
            <a:off x="17259300" y="8197936"/>
            <a:ext cx="2089064" cy="20890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21" id="21"/>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22" id="22"/>
          <p:cNvSpPr txBox="true"/>
          <p:nvPr/>
        </p:nvSpPr>
        <p:spPr>
          <a:xfrm rot="0">
            <a:off x="7472739" y="4555462"/>
            <a:ext cx="3342521" cy="1294950"/>
          </a:xfrm>
          <a:prstGeom prst="rect">
            <a:avLst/>
          </a:prstGeom>
        </p:spPr>
        <p:txBody>
          <a:bodyPr anchor="t" rtlCol="false" tIns="0" lIns="0" bIns="0" rIns="0">
            <a:spAutoFit/>
          </a:bodyPr>
          <a:lstStyle/>
          <a:p>
            <a:pPr algn="ctr" marL="0" indent="0" lvl="0">
              <a:lnSpc>
                <a:spcPts val="8985"/>
              </a:lnSpc>
            </a:pPr>
            <a:r>
              <a:rPr lang="en-US" b="true" sz="9360" spc="-477">
                <a:solidFill>
                  <a:srgbClr val="FF914D"/>
                </a:solidFill>
                <a:latin typeface="Poppins Semi-Bold"/>
                <a:ea typeface="Poppins Semi-Bold"/>
                <a:cs typeface="Poppins Semi-Bold"/>
                <a:sym typeface="Poppins Semi-Bold"/>
              </a:rPr>
              <a: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3845"/>
        </a:solidFill>
      </p:bgPr>
    </p:bg>
    <p:spTree>
      <p:nvGrpSpPr>
        <p:cNvPr id="1" name=""/>
        <p:cNvGrpSpPr/>
        <p:nvPr/>
      </p:nvGrpSpPr>
      <p:grpSpPr>
        <a:xfrm>
          <a:off x="0" y="0"/>
          <a:ext cx="0" cy="0"/>
          <a:chOff x="0" y="0"/>
          <a:chExt cx="0" cy="0"/>
        </a:xfrm>
      </p:grpSpPr>
      <p:grpSp>
        <p:nvGrpSpPr>
          <p:cNvPr name="Group 2" id="2"/>
          <p:cNvGrpSpPr/>
          <p:nvPr/>
        </p:nvGrpSpPr>
        <p:grpSpPr>
          <a:xfrm rot="0">
            <a:off x="11318529" y="1028700"/>
            <a:ext cx="5940771" cy="622518"/>
            <a:chOff x="0" y="0"/>
            <a:chExt cx="1564647" cy="163955"/>
          </a:xfrm>
        </p:grpSpPr>
        <p:sp>
          <p:nvSpPr>
            <p:cNvPr name="Freeform 3" id="3"/>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4" id="4"/>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grpSp>
        <p:nvGrpSpPr>
          <p:cNvPr name="Group 5" id="5"/>
          <p:cNvGrpSpPr/>
          <p:nvPr/>
        </p:nvGrpSpPr>
        <p:grpSpPr>
          <a:xfrm rot="-2343210">
            <a:off x="-6513274" y="4115322"/>
            <a:ext cx="15481808" cy="7740904"/>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lnTo>
                    <a:pt x="609600" y="0"/>
                  </a:lnTo>
                  <a:close/>
                </a:path>
              </a:pathLst>
            </a:custGeom>
            <a:ln w="38100" cap="rnd">
              <a:solidFill>
                <a:srgbClr val="FF914D"/>
              </a:solidFill>
              <a:prstDash val="solid"/>
              <a:round/>
            </a:ln>
          </p:spPr>
        </p:sp>
        <p:sp>
          <p:nvSpPr>
            <p:cNvPr name="TextBox 7" id="7"/>
            <p:cNvSpPr txBox="true"/>
            <p:nvPr/>
          </p:nvSpPr>
          <p:spPr>
            <a:xfrm>
              <a:off x="0" y="-57150"/>
              <a:ext cx="812800" cy="463550"/>
            </a:xfrm>
            <a:prstGeom prst="rect">
              <a:avLst/>
            </a:prstGeom>
          </p:spPr>
          <p:txBody>
            <a:bodyPr anchor="ctr" rtlCol="false" tIns="50800" lIns="50800" bIns="50800" rIns="50800"/>
            <a:lstStyle/>
            <a:p>
              <a:pPr algn="ctr" marL="0" indent="0" lvl="0">
                <a:lnSpc>
                  <a:spcPts val="2799"/>
                </a:lnSpc>
                <a:spcBef>
                  <a:spcPct val="0"/>
                </a:spcBef>
              </a:pPr>
            </a:p>
          </p:txBody>
        </p:sp>
      </p:grpSp>
      <p:grpSp>
        <p:nvGrpSpPr>
          <p:cNvPr name="Group 8" id="8"/>
          <p:cNvGrpSpPr/>
          <p:nvPr/>
        </p:nvGrpSpPr>
        <p:grpSpPr>
          <a:xfrm rot="0">
            <a:off x="633020" y="2071990"/>
            <a:ext cx="7078346" cy="70783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w="161925" cap="sq">
              <a:solidFill>
                <a:srgbClr val="FF914D"/>
              </a:solidFill>
              <a:prstDash val="solid"/>
              <a:miter/>
            </a:ln>
          </p:spPr>
        </p:sp>
      </p:grpSp>
      <p:grpSp>
        <p:nvGrpSpPr>
          <p:cNvPr name="Group 10" id="10"/>
          <p:cNvGrpSpPr/>
          <p:nvPr/>
        </p:nvGrpSpPr>
        <p:grpSpPr>
          <a:xfrm rot="0">
            <a:off x="5826642" y="6865446"/>
            <a:ext cx="2089064" cy="20890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2" id="12"/>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sp>
        <p:nvSpPr>
          <p:cNvPr name="TextBox 13" id="13"/>
          <p:cNvSpPr txBox="true"/>
          <p:nvPr/>
        </p:nvSpPr>
        <p:spPr>
          <a:xfrm rot="0">
            <a:off x="8909842" y="2660817"/>
            <a:ext cx="8564984" cy="2272077"/>
          </a:xfrm>
          <a:prstGeom prst="rect">
            <a:avLst/>
          </a:prstGeom>
        </p:spPr>
        <p:txBody>
          <a:bodyPr anchor="t" rtlCol="false" tIns="0" lIns="0" bIns="0" rIns="0">
            <a:spAutoFit/>
          </a:bodyPr>
          <a:lstStyle/>
          <a:p>
            <a:pPr algn="l" marL="0" indent="0" lvl="0">
              <a:lnSpc>
                <a:spcPts val="8374"/>
              </a:lnSpc>
            </a:pPr>
            <a:r>
              <a:rPr lang="en-US" b="true" sz="8723" spc="-444">
                <a:solidFill>
                  <a:srgbClr val="FF914D"/>
                </a:solidFill>
                <a:latin typeface="Poppins Semi-Bold"/>
                <a:ea typeface="Poppins Semi-Bold"/>
                <a:cs typeface="Poppins Semi-Bold"/>
                <a:sym typeface="Poppins Semi-Bold"/>
              </a:rPr>
              <a:t>Recommendations &amp; Next Steps</a:t>
            </a:r>
          </a:p>
        </p:txBody>
      </p:sp>
      <p:sp>
        <p:nvSpPr>
          <p:cNvPr name="TextBox 14" id="14"/>
          <p:cNvSpPr txBox="true"/>
          <p:nvPr/>
        </p:nvSpPr>
        <p:spPr>
          <a:xfrm rot="0">
            <a:off x="8909842" y="6007767"/>
            <a:ext cx="7720619" cy="276223"/>
          </a:xfrm>
          <a:prstGeom prst="rect">
            <a:avLst/>
          </a:prstGeom>
        </p:spPr>
        <p:txBody>
          <a:bodyPr anchor="t" rtlCol="false" tIns="0" lIns="0" bIns="0" rIns="0">
            <a:spAutoFit/>
          </a:bodyPr>
          <a:lstStyle/>
          <a:p>
            <a:pPr algn="l" marL="0" indent="0" lvl="0">
              <a:lnSpc>
                <a:spcPts val="2100"/>
              </a:lnSpc>
            </a:pPr>
            <a:r>
              <a:rPr lang="en-US" b="true" sz="1500" spc="187">
                <a:solidFill>
                  <a:srgbClr val="FFFFFF"/>
                </a:solidFill>
                <a:latin typeface="Poppins Bold"/>
                <a:ea typeface="Poppins Bold"/>
                <a:cs typeface="Poppins Bold"/>
                <a:sym typeface="Poppins Bold"/>
              </a:rPr>
              <a:t>ACTIONABLE SUGGESTIONS FOR FUTURE IMPROVEMENTS</a:t>
            </a:r>
          </a:p>
        </p:txBody>
      </p:sp>
      <p:sp>
        <p:nvSpPr>
          <p:cNvPr name="TextBox 15" id="15"/>
          <p:cNvSpPr txBox="true"/>
          <p:nvPr/>
        </p:nvSpPr>
        <p:spPr>
          <a:xfrm rot="0">
            <a:off x="11792179" y="1141953"/>
            <a:ext cx="927891" cy="258072"/>
          </a:xfrm>
          <a:prstGeom prst="rect">
            <a:avLst/>
          </a:prstGeom>
        </p:spPr>
        <p:txBody>
          <a:bodyPr anchor="t" rtlCol="false" tIns="0" lIns="0" bIns="0" rIns="0">
            <a:spAutoFit/>
          </a:bodyPr>
          <a:lstStyle/>
          <a:p>
            <a:pPr algn="ctr" marL="0" indent="0" lvl="0">
              <a:lnSpc>
                <a:spcPts val="2050"/>
              </a:lnSpc>
              <a:spcBef>
                <a:spcPct val="0"/>
              </a:spcBef>
            </a:pPr>
            <a:r>
              <a:rPr lang="en-US" sz="1464">
                <a:solidFill>
                  <a:srgbClr val="FFFFFF"/>
                </a:solidFill>
                <a:latin typeface="Poppins"/>
                <a:ea typeface="Poppins"/>
                <a:cs typeface="Poppins"/>
                <a:sym typeface="Poppins"/>
              </a:rPr>
              <a:t>Home</a:t>
            </a:r>
          </a:p>
        </p:txBody>
      </p:sp>
      <p:sp>
        <p:nvSpPr>
          <p:cNvPr name="TextBox 16" id="16"/>
          <p:cNvSpPr txBox="true"/>
          <p:nvPr/>
        </p:nvSpPr>
        <p:spPr>
          <a:xfrm rot="0">
            <a:off x="13824969" y="1141953"/>
            <a:ext cx="927891" cy="258072"/>
          </a:xfrm>
          <a:prstGeom prst="rect">
            <a:avLst/>
          </a:prstGeom>
        </p:spPr>
        <p:txBody>
          <a:bodyPr anchor="t" rtlCol="false" tIns="0" lIns="0" bIns="0" rIns="0">
            <a:spAutoFit/>
          </a:bodyPr>
          <a:lstStyle/>
          <a:p>
            <a:pPr algn="ctr" marL="0" indent="0" lvl="0">
              <a:lnSpc>
                <a:spcPts val="2050"/>
              </a:lnSpc>
              <a:spcBef>
                <a:spcPct val="0"/>
              </a:spcBef>
            </a:pPr>
            <a:r>
              <a:rPr lang="en-US" sz="1464">
                <a:solidFill>
                  <a:srgbClr val="FFFFFF"/>
                </a:solidFill>
                <a:latin typeface="Poppins"/>
                <a:ea typeface="Poppins"/>
                <a:cs typeface="Poppins"/>
                <a:sym typeface="Poppins"/>
              </a:rPr>
              <a:t>About</a:t>
            </a:r>
          </a:p>
        </p:txBody>
      </p:sp>
      <p:sp>
        <p:nvSpPr>
          <p:cNvPr name="TextBox 17" id="17"/>
          <p:cNvSpPr txBox="true"/>
          <p:nvPr/>
        </p:nvSpPr>
        <p:spPr>
          <a:xfrm rot="0">
            <a:off x="15689514" y="1141953"/>
            <a:ext cx="1441239" cy="258072"/>
          </a:xfrm>
          <a:prstGeom prst="rect">
            <a:avLst/>
          </a:prstGeom>
        </p:spPr>
        <p:txBody>
          <a:bodyPr anchor="t" rtlCol="false" tIns="0" lIns="0" bIns="0" rIns="0">
            <a:spAutoFit/>
          </a:bodyPr>
          <a:lstStyle/>
          <a:p>
            <a:pPr algn="ctr" marL="0" indent="0" lvl="0">
              <a:lnSpc>
                <a:spcPts val="2050"/>
              </a:lnSpc>
              <a:spcBef>
                <a:spcPct val="0"/>
              </a:spcBef>
            </a:pPr>
            <a:r>
              <a:rPr lang="en-US" sz="1464">
                <a:solidFill>
                  <a:srgbClr val="FF914D"/>
                </a:solidFill>
                <a:latin typeface="Poppins"/>
                <a:ea typeface="Poppins"/>
                <a:cs typeface="Poppins"/>
                <a:sym typeface="Poppins"/>
              </a:rPr>
              <a:t>Contact</a:t>
            </a:r>
          </a:p>
        </p:txBody>
      </p:sp>
      <p:sp>
        <p:nvSpPr>
          <p:cNvPr name="TextBox 18" id="18"/>
          <p:cNvSpPr txBox="true"/>
          <p:nvPr/>
        </p:nvSpPr>
        <p:spPr>
          <a:xfrm rot="0">
            <a:off x="1028700" y="1066800"/>
            <a:ext cx="2219723" cy="382843"/>
          </a:xfrm>
          <a:prstGeom prst="rect">
            <a:avLst/>
          </a:prstGeom>
        </p:spPr>
        <p:txBody>
          <a:bodyPr anchor="t" rtlCol="false" tIns="0" lIns="0" bIns="0" rIns="0">
            <a:spAutoFit/>
          </a:bodyPr>
          <a:lstStyle/>
          <a:p>
            <a:pPr algn="l" marL="0" indent="0" lvl="0">
              <a:lnSpc>
                <a:spcPts val="2658"/>
              </a:lnSpc>
            </a:pPr>
            <a:r>
              <a:rPr lang="en-US" b="true" sz="2769" spc="-141">
                <a:solidFill>
                  <a:srgbClr val="FFFFFF"/>
                </a:solidFill>
                <a:latin typeface="Poppins Semi-Bold"/>
                <a:ea typeface="Poppins Semi-Bold"/>
                <a:cs typeface="Poppins Semi-Bold"/>
                <a:sym typeface="Poppins Semi-Bold"/>
              </a:rPr>
              <a:t>Rimberio</a:t>
            </a:r>
          </a:p>
        </p:txBody>
      </p:sp>
      <p:sp>
        <p:nvSpPr>
          <p:cNvPr name="TextBox 19" id="19"/>
          <p:cNvSpPr txBox="true"/>
          <p:nvPr/>
        </p:nvSpPr>
        <p:spPr>
          <a:xfrm rot="0">
            <a:off x="8909842" y="6770196"/>
            <a:ext cx="7720619" cy="2456518"/>
          </a:xfrm>
          <a:prstGeom prst="rect">
            <a:avLst/>
          </a:prstGeom>
        </p:spPr>
        <p:txBody>
          <a:bodyPr anchor="t" rtlCol="false" tIns="0" lIns="0" bIns="0" rIns="0">
            <a:spAutoFit/>
          </a:bodyPr>
          <a:lstStyle/>
          <a:p>
            <a:pPr algn="l" marL="0" indent="0" lvl="0">
              <a:lnSpc>
                <a:spcPts val="2829"/>
              </a:lnSpc>
              <a:spcBef>
                <a:spcPct val="0"/>
              </a:spcBef>
            </a:pPr>
            <a:r>
              <a:rPr lang="en-US" sz="1664" strike="noStrike" u="none">
                <a:solidFill>
                  <a:srgbClr val="FFFFFF">
                    <a:alpha val="71765"/>
                  </a:srgbClr>
                </a:solidFill>
                <a:latin typeface="Poppins"/>
                <a:ea typeface="Poppins"/>
                <a:cs typeface="Poppins"/>
                <a:sym typeface="Poppins"/>
              </a:rPr>
              <a:t>• Expand to multi-class 5-star rating prediction for granular sentiment analysis</a:t>
            </a:r>
          </a:p>
          <a:p>
            <a:pPr algn="l" marL="0" indent="0" lvl="0">
              <a:lnSpc>
                <a:spcPts val="2829"/>
              </a:lnSpc>
              <a:spcBef>
                <a:spcPct val="0"/>
              </a:spcBef>
            </a:pPr>
            <a:r>
              <a:rPr lang="en-US" sz="1664" strike="noStrike" u="none">
                <a:solidFill>
                  <a:srgbClr val="FFFFFF">
                    <a:alpha val="71765"/>
                  </a:srgbClr>
                </a:solidFill>
                <a:latin typeface="Poppins"/>
                <a:ea typeface="Poppins"/>
                <a:cs typeface="Poppins"/>
                <a:sym typeface="Poppins"/>
              </a:rPr>
              <a:t>• BERT fine-tuning for domain-specific adaptation to review language</a:t>
            </a:r>
          </a:p>
          <a:p>
            <a:pPr algn="l" marL="0" indent="0" lvl="0">
              <a:lnSpc>
                <a:spcPts val="2829"/>
              </a:lnSpc>
              <a:spcBef>
                <a:spcPct val="0"/>
              </a:spcBef>
            </a:pPr>
            <a:r>
              <a:rPr lang="en-US" sz="1664" strike="noStrike" u="none">
                <a:solidFill>
                  <a:srgbClr val="FFFFFF">
                    <a:alpha val="71765"/>
                  </a:srgbClr>
                </a:solidFill>
                <a:latin typeface="Poppins"/>
                <a:ea typeface="Poppins"/>
                <a:cs typeface="Poppins"/>
                <a:sym typeface="Poppins"/>
              </a:rPr>
              <a:t>• Temporal analysis of rating drift patterns over time</a:t>
            </a:r>
          </a:p>
          <a:p>
            <a:pPr algn="l" marL="0" indent="0" lvl="0">
              <a:lnSpc>
                <a:spcPts val="2829"/>
              </a:lnSpc>
              <a:spcBef>
                <a:spcPct val="0"/>
              </a:spcBef>
            </a:pPr>
            <a:r>
              <a:rPr lang="en-US" sz="1664" strike="noStrike" u="none">
                <a:solidFill>
                  <a:srgbClr val="FFFFFF">
                    <a:alpha val="71765"/>
                  </a:srgbClr>
                </a:solidFill>
                <a:latin typeface="Poppins"/>
                <a:ea typeface="Poppins"/>
                <a:cs typeface="Poppins"/>
                <a:sym typeface="Poppins"/>
              </a:rPr>
              <a:t>• Develop category-specific sentiment models for improved accuracy</a:t>
            </a:r>
          </a:p>
          <a:p>
            <a:pPr algn="l" marL="0" indent="0" lvl="0">
              <a:lnSpc>
                <a:spcPts val="2829"/>
              </a:lnSpc>
              <a:spcBef>
                <a:spcPct val="0"/>
              </a:spcBef>
            </a:pPr>
            <a:r>
              <a:rPr lang="en-US" sz="1664" strike="noStrike" u="none">
                <a:solidFill>
                  <a:srgbClr val="FFFFFF">
                    <a:alpha val="71765"/>
                  </a:srgbClr>
                </a:solidFill>
                <a:latin typeface="Poppins"/>
                <a:ea typeface="Poppins"/>
                <a:cs typeface="Poppins"/>
                <a:sym typeface="Poppins"/>
              </a:rPr>
              <a:t>• Implement streaming ingestion with Kafka + Spark for real-time processing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941001" y="8862179"/>
            <a:ext cx="22170002" cy="2213277"/>
            <a:chOff x="0" y="0"/>
            <a:chExt cx="5839013" cy="582921"/>
          </a:xfrm>
        </p:grpSpPr>
        <p:sp>
          <p:nvSpPr>
            <p:cNvPr name="Freeform 4" id="4"/>
            <p:cNvSpPr/>
            <p:nvPr/>
          </p:nvSpPr>
          <p:spPr>
            <a:xfrm flipH="false" flipV="false" rot="0">
              <a:off x="0" y="0"/>
              <a:ext cx="5839013" cy="582921"/>
            </a:xfrm>
            <a:custGeom>
              <a:avLst/>
              <a:gdLst/>
              <a:ahLst/>
              <a:cxnLst/>
              <a:rect r="r" b="b" t="t" l="l"/>
              <a:pathLst>
                <a:path h="582921" w="5839013">
                  <a:moveTo>
                    <a:pt x="0" y="0"/>
                  </a:moveTo>
                  <a:lnTo>
                    <a:pt x="5839013" y="0"/>
                  </a:lnTo>
                  <a:lnTo>
                    <a:pt x="5839013" y="582921"/>
                  </a:lnTo>
                  <a:lnTo>
                    <a:pt x="0" y="582921"/>
                  </a:lnTo>
                  <a:close/>
                </a:path>
              </a:pathLst>
            </a:custGeom>
            <a:solidFill>
              <a:srgbClr val="FFFFFF"/>
            </a:solidFill>
          </p:spPr>
        </p:sp>
        <p:sp>
          <p:nvSpPr>
            <p:cNvPr name="TextBox 5" id="5"/>
            <p:cNvSpPr txBox="true"/>
            <p:nvPr/>
          </p:nvSpPr>
          <p:spPr>
            <a:xfrm>
              <a:off x="0" y="-57150"/>
              <a:ext cx="5839013" cy="640071"/>
            </a:xfrm>
            <a:prstGeom prst="rect">
              <a:avLst/>
            </a:prstGeom>
          </p:spPr>
          <p:txBody>
            <a:bodyPr anchor="ctr" rtlCol="false" tIns="50800" lIns="50800" bIns="50800" rIns="50800"/>
            <a:lstStyle/>
            <a:p>
              <a:pPr algn="ctr" marL="0" indent="0" lvl="0">
                <a:lnSpc>
                  <a:spcPts val="2867"/>
                </a:lnSpc>
              </a:pPr>
            </a:p>
          </p:txBody>
        </p:sp>
      </p:grpSp>
      <p:grpSp>
        <p:nvGrpSpPr>
          <p:cNvPr name="Group 6" id="6"/>
          <p:cNvGrpSpPr/>
          <p:nvPr/>
        </p:nvGrpSpPr>
        <p:grpSpPr>
          <a:xfrm rot="0">
            <a:off x="11318529" y="1028700"/>
            <a:ext cx="5940771" cy="622518"/>
            <a:chOff x="0" y="0"/>
            <a:chExt cx="1564647" cy="163955"/>
          </a:xfrm>
        </p:grpSpPr>
        <p:sp>
          <p:nvSpPr>
            <p:cNvPr name="Freeform 7" id="7"/>
            <p:cNvSpPr/>
            <p:nvPr/>
          </p:nvSpPr>
          <p:spPr>
            <a:xfrm flipH="false" flipV="false" rot="0">
              <a:off x="0" y="0"/>
              <a:ext cx="1564647" cy="163955"/>
            </a:xfrm>
            <a:custGeom>
              <a:avLst/>
              <a:gdLst/>
              <a:ahLst/>
              <a:cxnLst/>
              <a:rect r="r" b="b" t="t" l="l"/>
              <a:pathLst>
                <a:path h="163955" w="1564647">
                  <a:moveTo>
                    <a:pt x="81978" y="0"/>
                  </a:moveTo>
                  <a:lnTo>
                    <a:pt x="1482670" y="0"/>
                  </a:lnTo>
                  <a:cubicBezTo>
                    <a:pt x="1527945" y="0"/>
                    <a:pt x="1564647" y="36703"/>
                    <a:pt x="1564647" y="81978"/>
                  </a:cubicBezTo>
                  <a:lnTo>
                    <a:pt x="1564647" y="81978"/>
                  </a:lnTo>
                  <a:cubicBezTo>
                    <a:pt x="1564647" y="127253"/>
                    <a:pt x="1527945" y="163955"/>
                    <a:pt x="1482670" y="163955"/>
                  </a:cubicBezTo>
                  <a:lnTo>
                    <a:pt x="81978" y="163955"/>
                  </a:lnTo>
                  <a:cubicBezTo>
                    <a:pt x="36703" y="163955"/>
                    <a:pt x="0" y="127253"/>
                    <a:pt x="0" y="81978"/>
                  </a:cubicBezTo>
                  <a:lnTo>
                    <a:pt x="0" y="81978"/>
                  </a:lnTo>
                  <a:cubicBezTo>
                    <a:pt x="0" y="36703"/>
                    <a:pt x="36703" y="0"/>
                    <a:pt x="81978" y="0"/>
                  </a:cubicBezTo>
                  <a:close/>
                </a:path>
              </a:pathLst>
            </a:custGeom>
            <a:ln w="38100" cap="rnd">
              <a:solidFill>
                <a:srgbClr val="FF914D"/>
              </a:solidFill>
              <a:prstDash val="solid"/>
              <a:round/>
            </a:ln>
          </p:spPr>
        </p:sp>
        <p:sp>
          <p:nvSpPr>
            <p:cNvPr name="TextBox 8" id="8"/>
            <p:cNvSpPr txBox="true"/>
            <p:nvPr/>
          </p:nvSpPr>
          <p:spPr>
            <a:xfrm>
              <a:off x="0" y="-57150"/>
              <a:ext cx="1564647" cy="221105"/>
            </a:xfrm>
            <a:prstGeom prst="rect">
              <a:avLst/>
            </a:prstGeom>
          </p:spPr>
          <p:txBody>
            <a:bodyPr anchor="ctr" rtlCol="false" tIns="50800" lIns="50800" bIns="50800" rIns="50800"/>
            <a:lstStyle/>
            <a:p>
              <a:pPr algn="ctr" marL="0" indent="0" lvl="0">
                <a:lnSpc>
                  <a:spcPts val="2799"/>
                </a:lnSpc>
              </a:pPr>
            </a:p>
          </p:txBody>
        </p:sp>
      </p:grpSp>
      <p:sp>
        <p:nvSpPr>
          <p:cNvPr name="TextBox 9" id="9"/>
          <p:cNvSpPr txBox="true"/>
          <p:nvPr/>
        </p:nvSpPr>
        <p:spPr>
          <a:xfrm rot="0">
            <a:off x="1294835" y="3924971"/>
            <a:ext cx="15698330" cy="3089478"/>
          </a:xfrm>
          <a:prstGeom prst="rect">
            <a:avLst/>
          </a:prstGeom>
        </p:spPr>
        <p:txBody>
          <a:bodyPr anchor="t" rtlCol="false" tIns="0" lIns="0" bIns="0" rIns="0">
            <a:spAutoFit/>
          </a:bodyPr>
          <a:lstStyle/>
          <a:p>
            <a:pPr algn="ctr" marL="0" indent="0" lvl="0">
              <a:lnSpc>
                <a:spcPts val="21406"/>
              </a:lnSpc>
            </a:pPr>
            <a:r>
              <a:rPr lang="en-US" b="true" sz="22298" spc="-1137">
                <a:solidFill>
                  <a:srgbClr val="FF914D"/>
                </a:solidFill>
                <a:latin typeface="Poppins Semi-Bold"/>
                <a:ea typeface="Poppins Semi-Bold"/>
                <a:cs typeface="Poppins Semi-Bold"/>
                <a:sym typeface="Poppins Semi-Bold"/>
              </a:rPr>
              <a:t>Thank You!</a:t>
            </a:r>
          </a:p>
        </p:txBody>
      </p:sp>
      <p:sp>
        <p:nvSpPr>
          <p:cNvPr name="TextBox 10" id="10"/>
          <p:cNvSpPr txBox="true"/>
          <p:nvPr/>
        </p:nvSpPr>
        <p:spPr>
          <a:xfrm rot="0">
            <a:off x="3450475" y="3214923"/>
            <a:ext cx="11919320" cy="367110"/>
          </a:xfrm>
          <a:prstGeom prst="rect">
            <a:avLst/>
          </a:prstGeom>
        </p:spPr>
        <p:txBody>
          <a:bodyPr anchor="t" rtlCol="false" tIns="0" lIns="0" bIns="0" rIns="0">
            <a:spAutoFit/>
          </a:bodyPr>
          <a:lstStyle/>
          <a:p>
            <a:pPr algn="ctr" marL="0" indent="0" lvl="0">
              <a:lnSpc>
                <a:spcPts val="2865"/>
              </a:lnSpc>
            </a:pPr>
            <a:r>
              <a:rPr lang="en-US" sz="2046" spc="1338">
                <a:solidFill>
                  <a:srgbClr val="FFFFFF"/>
                </a:solidFill>
                <a:latin typeface="Poppins"/>
                <a:ea typeface="Poppins"/>
                <a:cs typeface="Poppins"/>
                <a:sym typeface="Poppins"/>
              </a:rPr>
              <a:t>QUESTIONS &amp; DISCUSSION</a:t>
            </a:r>
          </a:p>
        </p:txBody>
      </p:sp>
      <p:sp>
        <p:nvSpPr>
          <p:cNvPr name="TextBox 11" id="11"/>
          <p:cNvSpPr txBox="true"/>
          <p:nvPr/>
        </p:nvSpPr>
        <p:spPr>
          <a:xfrm rot="0">
            <a:off x="1179217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Home</a:t>
            </a:r>
          </a:p>
        </p:txBody>
      </p:sp>
      <p:sp>
        <p:nvSpPr>
          <p:cNvPr name="TextBox 12" id="12"/>
          <p:cNvSpPr txBox="true"/>
          <p:nvPr/>
        </p:nvSpPr>
        <p:spPr>
          <a:xfrm rot="0">
            <a:off x="13824969" y="1122903"/>
            <a:ext cx="927891"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FFFF"/>
                </a:solidFill>
                <a:latin typeface="Poppins"/>
                <a:ea typeface="Poppins"/>
                <a:cs typeface="Poppins"/>
                <a:sym typeface="Poppins"/>
              </a:rPr>
              <a:t>About</a:t>
            </a:r>
          </a:p>
        </p:txBody>
      </p:sp>
      <p:sp>
        <p:nvSpPr>
          <p:cNvPr name="TextBox 13" id="13"/>
          <p:cNvSpPr txBox="true"/>
          <p:nvPr/>
        </p:nvSpPr>
        <p:spPr>
          <a:xfrm rot="0">
            <a:off x="15689514" y="1122903"/>
            <a:ext cx="1441239" cy="358811"/>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FF914D"/>
                </a:solidFill>
                <a:latin typeface="Poppins"/>
                <a:ea typeface="Poppins"/>
                <a:cs typeface="Poppins"/>
                <a:sym typeface="Poppins"/>
              </a:rPr>
              <a:t>Contact</a:t>
            </a:r>
          </a:p>
        </p:txBody>
      </p:sp>
      <p:sp>
        <p:nvSpPr>
          <p:cNvPr name="TextBox 14" id="14"/>
          <p:cNvSpPr txBox="true"/>
          <p:nvPr/>
        </p:nvSpPr>
        <p:spPr>
          <a:xfrm rot="0">
            <a:off x="1028700" y="1076325"/>
            <a:ext cx="2219723" cy="1440183"/>
          </a:xfrm>
          <a:prstGeom prst="rect">
            <a:avLst/>
          </a:prstGeom>
        </p:spPr>
        <p:txBody>
          <a:bodyPr anchor="t" rtlCol="false" tIns="0" lIns="0" bIns="0" rIns="0">
            <a:spAutoFit/>
          </a:bodyPr>
          <a:lstStyle/>
          <a:p>
            <a:pPr algn="l" marL="0" indent="0" lvl="0">
              <a:lnSpc>
                <a:spcPts val="3627"/>
              </a:lnSpc>
            </a:pPr>
            <a:r>
              <a:rPr lang="en-US" b="true" sz="3778" spc="-192">
                <a:solidFill>
                  <a:srgbClr val="FFFFFF"/>
                </a:solidFill>
                <a:latin typeface="Poppins Semi-Bold"/>
                <a:ea typeface="Poppins Semi-Bold"/>
                <a:cs typeface="Poppins Semi-Bold"/>
                <a:sym typeface="Poppins Semi-Bold"/>
              </a:rPr>
              <a:t>Big Data ML Pipeline</a:t>
            </a:r>
          </a:p>
        </p:txBody>
      </p:sp>
      <p:grpSp>
        <p:nvGrpSpPr>
          <p:cNvPr name="Group 15" id="15"/>
          <p:cNvGrpSpPr/>
          <p:nvPr/>
        </p:nvGrpSpPr>
        <p:grpSpPr>
          <a:xfrm rot="0">
            <a:off x="6806308" y="-1060364"/>
            <a:ext cx="2089064" cy="208906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FF914D"/>
            </a:solidFill>
          </p:spPr>
        </p:sp>
        <p:sp>
          <p:nvSpPr>
            <p:cNvPr name="TextBox 17" id="17"/>
            <p:cNvSpPr txBox="true"/>
            <p:nvPr/>
          </p:nvSpPr>
          <p:spPr>
            <a:xfrm>
              <a:off x="127000" y="69850"/>
              <a:ext cx="558800" cy="615950"/>
            </a:xfrm>
            <a:prstGeom prst="rect">
              <a:avLst/>
            </a:prstGeom>
          </p:spPr>
          <p:txBody>
            <a:bodyPr anchor="ctr" rtlCol="false" tIns="50800" lIns="50800" bIns="50800" rIns="50800"/>
            <a:lstStyle/>
            <a:p>
              <a:pPr algn="ctr" marL="0" indent="0" lvl="0">
                <a:lnSpc>
                  <a:spcPts val="2799"/>
                </a:lnSpc>
              </a:pPr>
            </a:p>
          </p:txBody>
        </p:sp>
      </p:grpSp>
      <p:grpSp>
        <p:nvGrpSpPr>
          <p:cNvPr name="Group 18" id="18"/>
          <p:cNvGrpSpPr/>
          <p:nvPr/>
        </p:nvGrpSpPr>
        <p:grpSpPr>
          <a:xfrm rot="0">
            <a:off x="1443145" y="7766411"/>
            <a:ext cx="15401710" cy="1491889"/>
            <a:chOff x="0" y="0"/>
            <a:chExt cx="4056417" cy="392925"/>
          </a:xfrm>
        </p:grpSpPr>
        <p:sp>
          <p:nvSpPr>
            <p:cNvPr name="Freeform 19" id="19"/>
            <p:cNvSpPr/>
            <p:nvPr/>
          </p:nvSpPr>
          <p:spPr>
            <a:xfrm flipH="false" flipV="false" rot="0">
              <a:off x="0" y="0"/>
              <a:ext cx="4056418" cy="392925"/>
            </a:xfrm>
            <a:custGeom>
              <a:avLst/>
              <a:gdLst/>
              <a:ahLst/>
              <a:cxnLst/>
              <a:rect r="r" b="b" t="t" l="l"/>
              <a:pathLst>
                <a:path h="392925" w="4056418">
                  <a:moveTo>
                    <a:pt x="16588" y="0"/>
                  </a:moveTo>
                  <a:lnTo>
                    <a:pt x="4039829" y="0"/>
                  </a:lnTo>
                  <a:cubicBezTo>
                    <a:pt x="4048991" y="0"/>
                    <a:pt x="4056418" y="7427"/>
                    <a:pt x="4056418" y="16588"/>
                  </a:cubicBezTo>
                  <a:lnTo>
                    <a:pt x="4056418" y="376337"/>
                  </a:lnTo>
                  <a:cubicBezTo>
                    <a:pt x="4056418" y="380737"/>
                    <a:pt x="4054670" y="384956"/>
                    <a:pt x="4051559" y="388067"/>
                  </a:cubicBezTo>
                  <a:cubicBezTo>
                    <a:pt x="4048448" y="391178"/>
                    <a:pt x="4044229" y="392925"/>
                    <a:pt x="4039829" y="392925"/>
                  </a:cubicBezTo>
                  <a:lnTo>
                    <a:pt x="16588" y="392925"/>
                  </a:lnTo>
                  <a:cubicBezTo>
                    <a:pt x="7427" y="392925"/>
                    <a:pt x="0" y="385499"/>
                    <a:pt x="0" y="376337"/>
                  </a:cubicBezTo>
                  <a:lnTo>
                    <a:pt x="0" y="16588"/>
                  </a:lnTo>
                  <a:cubicBezTo>
                    <a:pt x="0" y="7427"/>
                    <a:pt x="7427" y="0"/>
                    <a:pt x="16588" y="0"/>
                  </a:cubicBezTo>
                  <a:close/>
                </a:path>
              </a:pathLst>
            </a:custGeom>
            <a:solidFill>
              <a:srgbClr val="035F76"/>
            </a:solidFill>
            <a:ln cap="rnd">
              <a:noFill/>
              <a:prstDash val="solid"/>
              <a:round/>
            </a:ln>
          </p:spPr>
        </p:sp>
        <p:sp>
          <p:nvSpPr>
            <p:cNvPr name="TextBox 20" id="20"/>
            <p:cNvSpPr txBox="true"/>
            <p:nvPr/>
          </p:nvSpPr>
          <p:spPr>
            <a:xfrm>
              <a:off x="0" y="-57150"/>
              <a:ext cx="4056417" cy="450075"/>
            </a:xfrm>
            <a:prstGeom prst="rect">
              <a:avLst/>
            </a:prstGeom>
          </p:spPr>
          <p:txBody>
            <a:bodyPr anchor="ctr" rtlCol="false" tIns="50800" lIns="50800" bIns="50800" rIns="50800"/>
            <a:lstStyle/>
            <a:p>
              <a:pPr algn="ctr" marL="0" indent="0" lvl="0">
                <a:lnSpc>
                  <a:spcPts val="2799"/>
                </a:lnSpc>
              </a:pPr>
            </a:p>
          </p:txBody>
        </p:sp>
      </p:grpSp>
      <p:sp>
        <p:nvSpPr>
          <p:cNvPr name="TextBox 21" id="21"/>
          <p:cNvSpPr txBox="true"/>
          <p:nvPr/>
        </p:nvSpPr>
        <p:spPr>
          <a:xfrm rot="0">
            <a:off x="2303854" y="7977186"/>
            <a:ext cx="13680293" cy="844639"/>
          </a:xfrm>
          <a:prstGeom prst="rect">
            <a:avLst/>
          </a:prstGeom>
        </p:spPr>
        <p:txBody>
          <a:bodyPr anchor="t" rtlCol="false" tIns="0" lIns="0" bIns="0" rIns="0">
            <a:spAutoFit/>
          </a:bodyPr>
          <a:lstStyle/>
          <a:p>
            <a:pPr algn="ctr" marL="0" indent="0" lvl="0">
              <a:lnSpc>
                <a:spcPts val="3397"/>
              </a:lnSpc>
              <a:spcBef>
                <a:spcPct val="0"/>
              </a:spcBef>
            </a:pPr>
            <a:r>
              <a:rPr lang="en-US" sz="1998" strike="noStrike" u="none">
                <a:solidFill>
                  <a:srgbClr val="FFFFFF">
                    <a:alpha val="71765"/>
                  </a:srgbClr>
                </a:solidFill>
                <a:latin typeface="Poppins"/>
                <a:ea typeface="Poppins"/>
                <a:cs typeface="Poppins"/>
                <a:sym typeface="Poppins"/>
              </a:rPr>
              <a:t>Thank you for your attention! We welcome any questions about our Yelp sentiment classification pipeline. Contact the Data Engineering Team, Sentiment Analysis Division for follow-up discussions.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DAHJTpuZCuA</dc:identifier>
  <dcterms:modified xsi:type="dcterms:W3CDTF">2011-08-01T06:04:30Z</dcterms:modified>
  <cp:revision>1</cp:revision>
  <dc:title>Big Data ML Pipeline: Yelp Sentiment Report</dc:title>
</cp:coreProperties>
</file>